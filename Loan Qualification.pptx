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y="5143500" cx="9144000"/>
  <p:notesSz cx="6858000" cy="9144000"/>
  <p:embeddedFontLst>
    <p:embeddedFont>
      <p:font typeface="PT Sans Narrow"/>
      <p:regular r:id="rId52"/>
      <p:bold r:id="rId53"/>
    </p:embeddedFont>
    <p:embeddedFont>
      <p:font typeface="Roboto Mono"/>
      <p:regular r:id="rId54"/>
      <p:bold r:id="rId55"/>
      <p:italic r:id="rId56"/>
      <p:boldItalic r:id="rId57"/>
    </p:embeddedFont>
    <p:embeddedFont>
      <p:font typeface="Open Sans"/>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7839882-9E61-4214-86D0-BF13D1B54BD2}">
  <a:tblStyle styleId="{17839882-9E61-4214-86D0-BF13D1B54BD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1" Type="http://schemas.openxmlformats.org/officeDocument/2006/relationships/font" Target="fonts/OpenSans-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OpenSans-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PTSansNarrow-bold.fntdata"/><Relationship Id="rId52" Type="http://schemas.openxmlformats.org/officeDocument/2006/relationships/font" Target="fonts/PTSansNarrow-regular.fntdata"/><Relationship Id="rId11" Type="http://schemas.openxmlformats.org/officeDocument/2006/relationships/slide" Target="slides/slide5.xml"/><Relationship Id="rId55" Type="http://schemas.openxmlformats.org/officeDocument/2006/relationships/font" Target="fonts/RobotoMono-bold.fntdata"/><Relationship Id="rId10" Type="http://schemas.openxmlformats.org/officeDocument/2006/relationships/slide" Target="slides/slide4.xml"/><Relationship Id="rId54" Type="http://schemas.openxmlformats.org/officeDocument/2006/relationships/font" Target="fonts/RobotoMono-regular.fntdata"/><Relationship Id="rId13" Type="http://schemas.openxmlformats.org/officeDocument/2006/relationships/slide" Target="slides/slide7.xml"/><Relationship Id="rId57" Type="http://schemas.openxmlformats.org/officeDocument/2006/relationships/font" Target="fonts/RobotoMono-boldItalic.fntdata"/><Relationship Id="rId12" Type="http://schemas.openxmlformats.org/officeDocument/2006/relationships/slide" Target="slides/slide6.xml"/><Relationship Id="rId56" Type="http://schemas.openxmlformats.org/officeDocument/2006/relationships/font" Target="fonts/RobotoMono-italic.fntdata"/><Relationship Id="rId15" Type="http://schemas.openxmlformats.org/officeDocument/2006/relationships/slide" Target="slides/slide9.xml"/><Relationship Id="rId59" Type="http://schemas.openxmlformats.org/officeDocument/2006/relationships/font" Target="fonts/OpenSans-bold.fntdata"/><Relationship Id="rId14" Type="http://schemas.openxmlformats.org/officeDocument/2006/relationships/slide" Target="slides/slide8.xml"/><Relationship Id="rId58" Type="http://schemas.openxmlformats.org/officeDocument/2006/relationships/font" Target="fonts/OpenSans-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169fedc6e0_0_39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169fedc6e0_0_39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169fedc6e0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169fedc6e0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d63dbf336a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d63dbf336a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169fedc6e0_0_39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169fedc6e0_0_39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169fedc6e0_0_40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169fedc6e0_0_40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d63dbf336a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d63dbf336a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d63dbf336a_1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d63dbf336a_1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169fedc6e0_0_39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169fedc6e0_0_39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169fedc6e0_0_40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169fedc6e0_0_40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169fedc6e0_0_39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169fedc6e0_0_39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169fedc6e0_0_40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169fedc6e0_0_40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169fedc6e0_0_38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169fedc6e0_0_38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169fedc6e0_0_38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169fedc6e0_0_38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d63dbf336a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d63dbf336a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169fedc6e0_0_40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169fedc6e0_0_40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d63ecd771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d63ecd771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169fedc6e0_0_39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169fedc6e0_0_39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1b95198f6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1b95198f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1e64182d1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1e64182d1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1e64182d1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1e64182d1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1e64182d1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1e64182d1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1b95198f6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1b95198f6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169fedc6e0_0_40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169fedc6e0_0_4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169fedc6e0_0_39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169fedc6e0_0_39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169fedc6e0_0_38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169fedc6e0_0_38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d63dbf336a_1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d63dbf336a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d604bc961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d604bc961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169fedc6e0_0_39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169fedc6e0_0_39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169fedc6e0_0_39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169fedc6e0_0_39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d63dbf336a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d63dbf336a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d604bc961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d604bc961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199b83de6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199b83de6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d63dbf336a_1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d63dbf336a_1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199b83de6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199b83de6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d604bc961f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2d604bc961f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1bd54f99bc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1bd54f99b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1bd54f99b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1bd54f99b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d604bc961f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2d604bc961f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d604bc961f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2d604bc961f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d63ecd7718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d63ecd7718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d604bc961f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2d604bc961f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d604bc961f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2d604bc961f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d604bc961f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2d604bc961f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1bd54f99b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1bd54f99b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24.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11.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 Id="rId3" Type="http://schemas.openxmlformats.org/officeDocument/2006/relationships/image" Target="../media/image12.png"/><Relationship Id="rId4" Type="http://schemas.openxmlformats.org/officeDocument/2006/relationships/image" Target="../media/image3.png"/><Relationship Id="rId5"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 Id="rId3"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 Id="rId3" Type="http://schemas.openxmlformats.org/officeDocument/2006/relationships/image" Target="../media/image18.png"/><Relationship Id="rId4" Type="http://schemas.openxmlformats.org/officeDocument/2006/relationships/image" Target="../media/image6.png"/><Relationship Id="rId5"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0.xml"/><Relationship Id="rId3"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3.xml"/><Relationship Id="rId3" Type="http://schemas.openxmlformats.org/officeDocument/2006/relationships/image" Target="../media/image20.png"/><Relationship Id="rId4" Type="http://schemas.openxmlformats.org/officeDocument/2006/relationships/image" Target="../media/image16.png"/><Relationship Id="rId5"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4.xml"/><Relationship Id="rId3"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2358300" y="1356300"/>
            <a:ext cx="4427400" cy="2430900"/>
          </a:xfrm>
          <a:prstGeom prst="rect">
            <a:avLst/>
          </a:prstGeom>
        </p:spPr>
        <p:txBody>
          <a:bodyPr anchorCtr="0" anchor="b" bIns="91425" lIns="91425" spcFirstLastPara="1" rIns="91425" wrap="square" tIns="91425">
            <a:normAutofit fontScale="90000"/>
          </a:bodyPr>
          <a:lstStyle/>
          <a:p>
            <a:pPr indent="0" lvl="0" marL="0" marR="0" rtl="0" algn="ctr">
              <a:lnSpc>
                <a:spcPct val="100000"/>
              </a:lnSpc>
              <a:spcBef>
                <a:spcPts val="0"/>
              </a:spcBef>
              <a:spcAft>
                <a:spcPts val="0"/>
              </a:spcAft>
              <a:buNone/>
            </a:pPr>
            <a:r>
              <a:rPr lang="zh-CN"/>
              <a:t>L</a:t>
            </a:r>
            <a:r>
              <a:rPr lang="zh-CN"/>
              <a:t>oan Qualification</a:t>
            </a:r>
            <a:endParaRPr/>
          </a:p>
          <a:p>
            <a:pPr indent="0" lvl="0" marL="0" marR="0" rtl="0" algn="ctr">
              <a:lnSpc>
                <a:spcPct val="100000"/>
              </a:lnSpc>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4"/>
          <p:cNvSpPr txBox="1"/>
          <p:nvPr>
            <p:ph type="title"/>
          </p:nvPr>
        </p:nvSpPr>
        <p:spPr>
          <a:xfrm>
            <a:off x="1332050" y="8604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zh-CN" sz="4400">
                <a:latin typeface="Georgia"/>
                <a:ea typeface="Georgia"/>
                <a:cs typeface="Georgia"/>
                <a:sym typeface="Georgia"/>
              </a:rPr>
              <a:t>Agenda</a:t>
            </a:r>
            <a:endParaRPr sz="4400">
              <a:latin typeface="Georgia"/>
              <a:ea typeface="Georgia"/>
              <a:cs typeface="Georgia"/>
              <a:sym typeface="Georgia"/>
            </a:endParaRPr>
          </a:p>
        </p:txBody>
      </p:sp>
      <p:sp>
        <p:nvSpPr>
          <p:cNvPr id="72" name="Google Shape;72;p14"/>
          <p:cNvSpPr txBox="1"/>
          <p:nvPr>
            <p:ph idx="1" type="body"/>
          </p:nvPr>
        </p:nvSpPr>
        <p:spPr>
          <a:xfrm>
            <a:off x="5069025" y="178125"/>
            <a:ext cx="3488100" cy="4185000"/>
          </a:xfrm>
          <a:prstGeom prst="rect">
            <a:avLst/>
          </a:prstGeom>
        </p:spPr>
        <p:txBody>
          <a:bodyPr anchorCtr="0" anchor="t" bIns="91425" lIns="91425" spcFirstLastPara="1" rIns="91425" wrap="square" tIns="91425">
            <a:normAutofit fontScale="25000" lnSpcReduction="20000"/>
          </a:bodyPr>
          <a:lstStyle/>
          <a:p>
            <a:pPr indent="-317500" lvl="0" marL="457200" marR="0" rtl="0" algn="l">
              <a:lnSpc>
                <a:spcPct val="150000"/>
              </a:lnSpc>
              <a:spcBef>
                <a:spcPts val="0"/>
              </a:spcBef>
              <a:spcAft>
                <a:spcPts val="0"/>
              </a:spcAft>
              <a:buClr>
                <a:srgbClr val="202124"/>
              </a:buClr>
              <a:buSzPct val="100000"/>
              <a:buFont typeface="Arial"/>
              <a:buAutoNum type="arabicPeriod"/>
            </a:pPr>
            <a:r>
              <a:rPr b="1" lang="zh-CN" sz="5600">
                <a:solidFill>
                  <a:srgbClr val="202124"/>
                </a:solidFill>
                <a:latin typeface="Arial"/>
                <a:ea typeface="Arial"/>
                <a:cs typeface="Arial"/>
                <a:sym typeface="Arial"/>
              </a:rPr>
              <a:t>Introduction</a:t>
            </a:r>
            <a:endParaRPr b="1" sz="5600">
              <a:solidFill>
                <a:srgbClr val="202124"/>
              </a:solidFill>
              <a:latin typeface="Arial"/>
              <a:ea typeface="Arial"/>
              <a:cs typeface="Arial"/>
              <a:sym typeface="Arial"/>
            </a:endParaRPr>
          </a:p>
          <a:p>
            <a:pPr indent="-317500" lvl="0" marL="457200" marR="0" rtl="0" algn="l">
              <a:lnSpc>
                <a:spcPct val="150000"/>
              </a:lnSpc>
              <a:spcBef>
                <a:spcPts val="0"/>
              </a:spcBef>
              <a:spcAft>
                <a:spcPts val="0"/>
              </a:spcAft>
              <a:buClr>
                <a:srgbClr val="202124"/>
              </a:buClr>
              <a:buSzPct val="100000"/>
              <a:buFont typeface="Arial"/>
              <a:buAutoNum type="arabicPeriod"/>
            </a:pPr>
            <a:r>
              <a:rPr b="1" lang="zh-CN" sz="5600">
                <a:solidFill>
                  <a:srgbClr val="202124"/>
                </a:solidFill>
                <a:latin typeface="Arial"/>
                <a:ea typeface="Arial"/>
                <a:cs typeface="Arial"/>
                <a:sym typeface="Arial"/>
              </a:rPr>
              <a:t>Data Summary</a:t>
            </a:r>
            <a:endParaRPr b="1" sz="5600">
              <a:solidFill>
                <a:srgbClr val="202124"/>
              </a:solidFill>
              <a:latin typeface="Arial"/>
              <a:ea typeface="Arial"/>
              <a:cs typeface="Arial"/>
              <a:sym typeface="Arial"/>
            </a:endParaRPr>
          </a:p>
          <a:p>
            <a:pPr indent="457200" lvl="0" marL="457200" marR="0" rtl="0" algn="l">
              <a:lnSpc>
                <a:spcPct val="150000"/>
              </a:lnSpc>
              <a:spcBef>
                <a:spcPts val="0"/>
              </a:spcBef>
              <a:spcAft>
                <a:spcPts val="0"/>
              </a:spcAft>
              <a:buNone/>
            </a:pPr>
            <a:r>
              <a:rPr b="1" lang="zh-CN" sz="5600">
                <a:solidFill>
                  <a:srgbClr val="202124"/>
                </a:solidFill>
                <a:latin typeface="Arial"/>
                <a:ea typeface="Arial"/>
                <a:cs typeface="Arial"/>
                <a:sym typeface="Arial"/>
              </a:rPr>
              <a:t>2.1 Data Source</a:t>
            </a:r>
            <a:endParaRPr b="1" sz="5600">
              <a:solidFill>
                <a:srgbClr val="202124"/>
              </a:solidFill>
              <a:latin typeface="Arial"/>
              <a:ea typeface="Arial"/>
              <a:cs typeface="Arial"/>
              <a:sym typeface="Arial"/>
            </a:endParaRPr>
          </a:p>
          <a:p>
            <a:pPr indent="457200" lvl="0" marL="457200" marR="0" rtl="0" algn="l">
              <a:lnSpc>
                <a:spcPct val="150000"/>
              </a:lnSpc>
              <a:spcBef>
                <a:spcPts val="0"/>
              </a:spcBef>
              <a:spcAft>
                <a:spcPts val="0"/>
              </a:spcAft>
              <a:buNone/>
            </a:pPr>
            <a:r>
              <a:rPr b="1" lang="zh-CN" sz="5600">
                <a:solidFill>
                  <a:srgbClr val="202124"/>
                </a:solidFill>
                <a:latin typeface="Arial"/>
                <a:ea typeface="Arial"/>
                <a:cs typeface="Arial"/>
                <a:sym typeface="Arial"/>
              </a:rPr>
              <a:t>2.2 Data processing</a:t>
            </a:r>
            <a:endParaRPr b="1" sz="5600">
              <a:solidFill>
                <a:srgbClr val="202124"/>
              </a:solidFill>
              <a:latin typeface="Arial"/>
              <a:ea typeface="Arial"/>
              <a:cs typeface="Arial"/>
              <a:sym typeface="Arial"/>
            </a:endParaRPr>
          </a:p>
          <a:p>
            <a:pPr indent="457200" lvl="0" marL="457200" marR="0" rtl="0" algn="l">
              <a:lnSpc>
                <a:spcPct val="150000"/>
              </a:lnSpc>
              <a:spcBef>
                <a:spcPts val="0"/>
              </a:spcBef>
              <a:spcAft>
                <a:spcPts val="0"/>
              </a:spcAft>
              <a:buNone/>
            </a:pPr>
            <a:r>
              <a:rPr b="1" lang="zh-CN" sz="5600">
                <a:solidFill>
                  <a:srgbClr val="202124"/>
                </a:solidFill>
                <a:latin typeface="Arial"/>
                <a:ea typeface="Arial"/>
                <a:cs typeface="Arial"/>
                <a:sym typeface="Arial"/>
              </a:rPr>
              <a:t>2.3 Visualization &amp; EDA</a:t>
            </a:r>
            <a:endParaRPr b="1" sz="5600">
              <a:solidFill>
                <a:srgbClr val="202124"/>
              </a:solidFill>
              <a:latin typeface="Arial"/>
              <a:ea typeface="Arial"/>
              <a:cs typeface="Arial"/>
              <a:sym typeface="Arial"/>
            </a:endParaRPr>
          </a:p>
          <a:p>
            <a:pPr indent="-317500" lvl="0" marL="457200" marR="0" rtl="0" algn="l">
              <a:lnSpc>
                <a:spcPct val="150000"/>
              </a:lnSpc>
              <a:spcBef>
                <a:spcPts val="0"/>
              </a:spcBef>
              <a:spcAft>
                <a:spcPts val="0"/>
              </a:spcAft>
              <a:buClr>
                <a:srgbClr val="202124"/>
              </a:buClr>
              <a:buSzPct val="100000"/>
              <a:buFont typeface="Arial"/>
              <a:buAutoNum type="arabicPeriod"/>
            </a:pPr>
            <a:r>
              <a:rPr b="1" lang="zh-CN" sz="5600">
                <a:solidFill>
                  <a:srgbClr val="202124"/>
                </a:solidFill>
                <a:latin typeface="Arial"/>
                <a:ea typeface="Arial"/>
                <a:cs typeface="Arial"/>
                <a:sym typeface="Arial"/>
              </a:rPr>
              <a:t>Models and Results</a:t>
            </a:r>
            <a:endParaRPr b="1" sz="5600">
              <a:solidFill>
                <a:srgbClr val="202124"/>
              </a:solidFill>
              <a:latin typeface="Arial"/>
              <a:ea typeface="Arial"/>
              <a:cs typeface="Arial"/>
              <a:sym typeface="Arial"/>
            </a:endParaRPr>
          </a:p>
          <a:p>
            <a:pPr indent="0" lvl="0" marL="457200" marR="0" rtl="0" algn="l">
              <a:lnSpc>
                <a:spcPct val="150000"/>
              </a:lnSpc>
              <a:spcBef>
                <a:spcPts val="0"/>
              </a:spcBef>
              <a:spcAft>
                <a:spcPts val="0"/>
              </a:spcAft>
              <a:buNone/>
            </a:pPr>
            <a:r>
              <a:rPr b="1" lang="zh-CN" sz="5600">
                <a:solidFill>
                  <a:srgbClr val="202124"/>
                </a:solidFill>
                <a:latin typeface="Arial"/>
                <a:ea typeface="Arial"/>
                <a:cs typeface="Arial"/>
                <a:sym typeface="Arial"/>
              </a:rPr>
              <a:t>	3.1 Logistic Regression</a:t>
            </a:r>
            <a:endParaRPr b="1" sz="5600">
              <a:solidFill>
                <a:srgbClr val="202124"/>
              </a:solidFill>
              <a:latin typeface="Arial"/>
              <a:ea typeface="Arial"/>
              <a:cs typeface="Arial"/>
              <a:sym typeface="Arial"/>
            </a:endParaRPr>
          </a:p>
          <a:p>
            <a:pPr indent="457200" lvl="0" marL="457200" marR="0" rtl="0" algn="l">
              <a:lnSpc>
                <a:spcPct val="150000"/>
              </a:lnSpc>
              <a:spcBef>
                <a:spcPts val="0"/>
              </a:spcBef>
              <a:spcAft>
                <a:spcPts val="0"/>
              </a:spcAft>
              <a:buNone/>
            </a:pPr>
            <a:r>
              <a:rPr b="1" lang="zh-CN" sz="5600">
                <a:solidFill>
                  <a:srgbClr val="202124"/>
                </a:solidFill>
                <a:latin typeface="Arial"/>
                <a:ea typeface="Arial"/>
                <a:cs typeface="Arial"/>
                <a:sym typeface="Arial"/>
              </a:rPr>
              <a:t>3.2 </a:t>
            </a:r>
            <a:r>
              <a:rPr b="1" lang="zh-CN" sz="5600">
                <a:solidFill>
                  <a:srgbClr val="202124"/>
                </a:solidFill>
                <a:latin typeface="Arial"/>
                <a:ea typeface="Arial"/>
                <a:cs typeface="Arial"/>
                <a:sym typeface="Arial"/>
              </a:rPr>
              <a:t>Decision Tree</a:t>
            </a:r>
            <a:endParaRPr b="1" sz="5600">
              <a:solidFill>
                <a:srgbClr val="202124"/>
              </a:solidFill>
              <a:latin typeface="Arial"/>
              <a:ea typeface="Arial"/>
              <a:cs typeface="Arial"/>
              <a:sym typeface="Arial"/>
            </a:endParaRPr>
          </a:p>
          <a:p>
            <a:pPr indent="457200" lvl="0" marL="457200" marR="0" rtl="0" algn="l">
              <a:lnSpc>
                <a:spcPct val="150000"/>
              </a:lnSpc>
              <a:spcBef>
                <a:spcPts val="0"/>
              </a:spcBef>
              <a:spcAft>
                <a:spcPts val="0"/>
              </a:spcAft>
              <a:buNone/>
            </a:pPr>
            <a:r>
              <a:rPr b="1" lang="zh-CN" sz="5600">
                <a:solidFill>
                  <a:srgbClr val="202124"/>
                </a:solidFill>
                <a:latin typeface="Arial"/>
                <a:ea typeface="Arial"/>
                <a:cs typeface="Arial"/>
                <a:sym typeface="Arial"/>
              </a:rPr>
              <a:t>3.3 Random Forest</a:t>
            </a:r>
            <a:endParaRPr b="1" sz="5600">
              <a:solidFill>
                <a:srgbClr val="202124"/>
              </a:solidFill>
              <a:latin typeface="Arial"/>
              <a:ea typeface="Arial"/>
              <a:cs typeface="Arial"/>
              <a:sym typeface="Arial"/>
            </a:endParaRPr>
          </a:p>
          <a:p>
            <a:pPr indent="457200" lvl="0" marL="457200" marR="0" rtl="0" algn="l">
              <a:lnSpc>
                <a:spcPct val="150000"/>
              </a:lnSpc>
              <a:spcBef>
                <a:spcPts val="0"/>
              </a:spcBef>
              <a:spcAft>
                <a:spcPts val="0"/>
              </a:spcAft>
              <a:buNone/>
            </a:pPr>
            <a:r>
              <a:rPr b="1" lang="zh-CN" sz="5600">
                <a:solidFill>
                  <a:srgbClr val="202124"/>
                </a:solidFill>
                <a:latin typeface="Arial"/>
                <a:ea typeface="Arial"/>
                <a:cs typeface="Arial"/>
                <a:sym typeface="Arial"/>
              </a:rPr>
              <a:t>3.4 </a:t>
            </a:r>
            <a:r>
              <a:rPr b="1" lang="zh-CN" sz="5600">
                <a:solidFill>
                  <a:srgbClr val="202124"/>
                </a:solidFill>
                <a:latin typeface="Arial"/>
                <a:ea typeface="Arial"/>
                <a:cs typeface="Arial"/>
                <a:sym typeface="Arial"/>
              </a:rPr>
              <a:t>Neural network</a:t>
            </a:r>
            <a:endParaRPr b="1" sz="5600">
              <a:solidFill>
                <a:srgbClr val="202124"/>
              </a:solidFill>
              <a:latin typeface="Arial"/>
              <a:ea typeface="Arial"/>
              <a:cs typeface="Arial"/>
              <a:sym typeface="Arial"/>
            </a:endParaRPr>
          </a:p>
          <a:p>
            <a:pPr indent="457200" lvl="0" marL="457200" marR="0" rtl="0" algn="l">
              <a:lnSpc>
                <a:spcPct val="150000"/>
              </a:lnSpc>
              <a:spcBef>
                <a:spcPts val="0"/>
              </a:spcBef>
              <a:spcAft>
                <a:spcPts val="0"/>
              </a:spcAft>
              <a:buNone/>
            </a:pPr>
            <a:r>
              <a:rPr b="1" lang="zh-CN" sz="5600">
                <a:solidFill>
                  <a:srgbClr val="202124"/>
                </a:solidFill>
                <a:latin typeface="Arial"/>
                <a:ea typeface="Arial"/>
                <a:cs typeface="Arial"/>
                <a:sym typeface="Arial"/>
              </a:rPr>
              <a:t>3.5 GBDT</a:t>
            </a:r>
            <a:endParaRPr b="1" sz="5600">
              <a:solidFill>
                <a:srgbClr val="202124"/>
              </a:solidFill>
              <a:latin typeface="Arial"/>
              <a:ea typeface="Arial"/>
              <a:cs typeface="Arial"/>
              <a:sym typeface="Arial"/>
            </a:endParaRPr>
          </a:p>
          <a:p>
            <a:pPr indent="457200" lvl="0" marL="457200" marR="0" rtl="0" algn="l">
              <a:lnSpc>
                <a:spcPct val="150000"/>
              </a:lnSpc>
              <a:spcBef>
                <a:spcPts val="0"/>
              </a:spcBef>
              <a:spcAft>
                <a:spcPts val="0"/>
              </a:spcAft>
              <a:buNone/>
            </a:pPr>
            <a:r>
              <a:rPr b="1" lang="zh-CN" sz="5600">
                <a:solidFill>
                  <a:srgbClr val="202124"/>
                </a:solidFill>
                <a:latin typeface="Arial"/>
                <a:ea typeface="Arial"/>
                <a:cs typeface="Arial"/>
                <a:sym typeface="Arial"/>
              </a:rPr>
              <a:t>3.6 XGBoosting</a:t>
            </a:r>
            <a:endParaRPr b="1" sz="5600">
              <a:solidFill>
                <a:srgbClr val="202124"/>
              </a:solidFill>
              <a:latin typeface="Arial"/>
              <a:ea typeface="Arial"/>
              <a:cs typeface="Arial"/>
              <a:sym typeface="Arial"/>
            </a:endParaRPr>
          </a:p>
          <a:p>
            <a:pPr indent="457200" lvl="0" marL="457200" marR="0" rtl="0" algn="l">
              <a:lnSpc>
                <a:spcPct val="150000"/>
              </a:lnSpc>
              <a:spcBef>
                <a:spcPts val="0"/>
              </a:spcBef>
              <a:spcAft>
                <a:spcPts val="0"/>
              </a:spcAft>
              <a:buNone/>
            </a:pPr>
            <a:r>
              <a:rPr b="1" lang="zh-CN" sz="5600">
                <a:solidFill>
                  <a:srgbClr val="202124"/>
                </a:solidFill>
                <a:latin typeface="Arial"/>
                <a:ea typeface="Arial"/>
                <a:cs typeface="Arial"/>
                <a:sym typeface="Arial"/>
              </a:rPr>
              <a:t>3.7 Light GBoosting (bonus)</a:t>
            </a:r>
            <a:endParaRPr b="1" sz="5600">
              <a:solidFill>
                <a:srgbClr val="202124"/>
              </a:solidFill>
              <a:latin typeface="Arial"/>
              <a:ea typeface="Arial"/>
              <a:cs typeface="Arial"/>
              <a:sym typeface="Arial"/>
            </a:endParaRPr>
          </a:p>
          <a:p>
            <a:pPr indent="-317500" lvl="0" marL="457200" marR="0" rtl="0" algn="l">
              <a:lnSpc>
                <a:spcPct val="150000"/>
              </a:lnSpc>
              <a:spcBef>
                <a:spcPts val="0"/>
              </a:spcBef>
              <a:spcAft>
                <a:spcPts val="0"/>
              </a:spcAft>
              <a:buClr>
                <a:srgbClr val="202124"/>
              </a:buClr>
              <a:buSzPct val="100000"/>
              <a:buFont typeface="Arial"/>
              <a:buAutoNum type="arabicPeriod"/>
            </a:pPr>
            <a:r>
              <a:rPr b="1" lang="zh-CN" sz="5600">
                <a:solidFill>
                  <a:srgbClr val="202124"/>
                </a:solidFill>
                <a:latin typeface="Arial"/>
                <a:ea typeface="Arial"/>
                <a:cs typeface="Arial"/>
                <a:sym typeface="Arial"/>
              </a:rPr>
              <a:t>Conclusion</a:t>
            </a:r>
            <a:endParaRPr b="1" sz="5600">
              <a:solidFill>
                <a:srgbClr val="202124"/>
              </a:solidFill>
              <a:latin typeface="Arial"/>
              <a:ea typeface="Arial"/>
              <a:cs typeface="Arial"/>
              <a:sym typeface="Arial"/>
            </a:endParaRPr>
          </a:p>
          <a:p>
            <a:pPr indent="457200" lvl="0" marL="457200" marR="0" rtl="0" algn="l">
              <a:lnSpc>
                <a:spcPct val="150000"/>
              </a:lnSpc>
              <a:spcBef>
                <a:spcPts val="0"/>
              </a:spcBef>
              <a:spcAft>
                <a:spcPts val="0"/>
              </a:spcAft>
              <a:buNone/>
            </a:pPr>
            <a:r>
              <a:rPr b="1" lang="zh-CN" sz="5600">
                <a:solidFill>
                  <a:srgbClr val="202124"/>
                </a:solidFill>
                <a:latin typeface="Arial"/>
                <a:ea typeface="Arial"/>
                <a:cs typeface="Arial"/>
                <a:sym typeface="Arial"/>
              </a:rPr>
              <a:t>4.1 Summary of the models</a:t>
            </a:r>
            <a:endParaRPr b="1" sz="5600">
              <a:solidFill>
                <a:srgbClr val="202124"/>
              </a:solidFill>
              <a:latin typeface="Arial"/>
              <a:ea typeface="Arial"/>
              <a:cs typeface="Arial"/>
              <a:sym typeface="Arial"/>
            </a:endParaRPr>
          </a:p>
          <a:p>
            <a:pPr indent="457200" lvl="0" marL="457200" marR="0" rtl="0" algn="l">
              <a:lnSpc>
                <a:spcPct val="150000"/>
              </a:lnSpc>
              <a:spcBef>
                <a:spcPts val="0"/>
              </a:spcBef>
              <a:spcAft>
                <a:spcPts val="0"/>
              </a:spcAft>
              <a:buNone/>
            </a:pPr>
            <a:r>
              <a:rPr b="1" lang="zh-CN" sz="5600">
                <a:solidFill>
                  <a:srgbClr val="202124"/>
                </a:solidFill>
                <a:latin typeface="Arial"/>
                <a:ea typeface="Arial"/>
                <a:cs typeface="Arial"/>
                <a:sym typeface="Arial"/>
              </a:rPr>
              <a:t>4.2 Limitation</a:t>
            </a:r>
            <a:endParaRPr b="1" sz="5600">
              <a:solidFill>
                <a:srgbClr val="202124"/>
              </a:solidFill>
              <a:latin typeface="Arial"/>
              <a:ea typeface="Arial"/>
              <a:cs typeface="Arial"/>
              <a:sym typeface="Arial"/>
            </a:endParaRPr>
          </a:p>
          <a:p>
            <a:pPr indent="457200" lvl="0" marL="457200" marR="0" rtl="0" algn="l">
              <a:lnSpc>
                <a:spcPct val="150000"/>
              </a:lnSpc>
              <a:spcBef>
                <a:spcPts val="0"/>
              </a:spcBef>
              <a:spcAft>
                <a:spcPts val="0"/>
              </a:spcAft>
              <a:buNone/>
            </a:pPr>
            <a:r>
              <a:rPr b="1" lang="zh-CN" sz="5600">
                <a:solidFill>
                  <a:srgbClr val="202124"/>
                </a:solidFill>
                <a:latin typeface="Arial"/>
                <a:ea typeface="Arial"/>
                <a:cs typeface="Arial"/>
                <a:sym typeface="Arial"/>
              </a:rPr>
              <a:t>4.3 Future Work</a:t>
            </a:r>
            <a:endParaRPr b="1" sz="5600">
              <a:solidFill>
                <a:srgbClr val="202124"/>
              </a:solidFill>
              <a:latin typeface="Arial"/>
              <a:ea typeface="Arial"/>
              <a:cs typeface="Arial"/>
              <a:sym typeface="Arial"/>
            </a:endParaRPr>
          </a:p>
          <a:p>
            <a:pPr indent="0" lvl="0" marL="0" rtl="0" algn="l">
              <a:lnSpc>
                <a:spcPct val="150000"/>
              </a:lnSpc>
              <a:spcBef>
                <a:spcPts val="0"/>
              </a:spcBef>
              <a:spcAft>
                <a:spcPts val="0"/>
              </a:spcAft>
              <a:buNone/>
            </a:pPr>
            <a:r>
              <a:t/>
            </a:r>
            <a:endParaRPr sz="1100">
              <a:solidFill>
                <a:srgbClr val="202124"/>
              </a:solidFill>
              <a:latin typeface="Arial"/>
              <a:ea typeface="Arial"/>
              <a:cs typeface="Arial"/>
              <a:sym typeface="Arial"/>
            </a:endParaRPr>
          </a:p>
          <a:p>
            <a:pPr indent="0" lvl="0" marL="0" marR="0" rtl="0" algn="l">
              <a:lnSpc>
                <a:spcPct val="150000"/>
              </a:lnSpc>
              <a:spcBef>
                <a:spcPts val="1400"/>
              </a:spcBef>
              <a:spcAft>
                <a:spcPts val="400"/>
              </a:spcAft>
              <a:buNone/>
            </a:pPr>
            <a:r>
              <a:t/>
            </a:r>
            <a:endParaRPr b="1" sz="1300">
              <a:solidFill>
                <a:srgbClr val="202124"/>
              </a:solidFill>
              <a:latin typeface="Arial"/>
              <a:ea typeface="Arial"/>
              <a:cs typeface="Arial"/>
              <a:sym typeface="Arial"/>
            </a:endParaRPr>
          </a:p>
        </p:txBody>
      </p:sp>
      <p:pic>
        <p:nvPicPr>
          <p:cNvPr id="73" name="Google Shape;73;p14"/>
          <p:cNvPicPr preferRelativeResize="0"/>
          <p:nvPr/>
        </p:nvPicPr>
        <p:blipFill>
          <a:blip r:embed="rId3">
            <a:alphaModFix/>
          </a:blip>
          <a:stretch>
            <a:fillRect/>
          </a:stretch>
        </p:blipFill>
        <p:spPr>
          <a:xfrm>
            <a:off x="497349" y="1934262"/>
            <a:ext cx="4073950" cy="20369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434340" lvl="0" marL="457200" rtl="0" algn="l">
              <a:spcBef>
                <a:spcPts val="0"/>
              </a:spcBef>
              <a:spcAft>
                <a:spcPts val="0"/>
              </a:spcAft>
              <a:buSzPct val="100000"/>
              <a:buAutoNum type="arabicPeriod"/>
            </a:pPr>
            <a:r>
              <a:rPr lang="zh-CN"/>
              <a:t>Introduction</a:t>
            </a:r>
            <a:endParaRPr/>
          </a:p>
        </p:txBody>
      </p:sp>
      <p:sp>
        <p:nvSpPr>
          <p:cNvPr id="79" name="Google Shape;79;p15"/>
          <p:cNvSpPr txBox="1"/>
          <p:nvPr>
            <p:ph idx="1" type="body"/>
          </p:nvPr>
        </p:nvSpPr>
        <p:spPr>
          <a:xfrm>
            <a:off x="311700" y="1342525"/>
            <a:ext cx="8520600" cy="33027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zh-CN" sz="1300">
                <a:solidFill>
                  <a:srgbClr val="000000"/>
                </a:solidFill>
                <a:latin typeface="Arial"/>
                <a:ea typeface="Arial"/>
                <a:cs typeface="Arial"/>
                <a:sym typeface="Arial"/>
              </a:rPr>
              <a:t>Why Loan important?</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zh-CN" sz="1100">
                <a:solidFill>
                  <a:srgbClr val="000000"/>
                </a:solidFill>
                <a:latin typeface="Arial"/>
                <a:ea typeface="Arial"/>
                <a:cs typeface="Arial"/>
                <a:sym typeface="Arial"/>
              </a:rPr>
              <a:t>Home Ownership</a:t>
            </a:r>
            <a:r>
              <a:rPr lang="zh-CN" sz="1100">
                <a:solidFill>
                  <a:srgbClr val="000000"/>
                </a:solidFill>
                <a:latin typeface="Arial"/>
                <a:ea typeface="Arial"/>
                <a:cs typeface="Arial"/>
                <a:sym typeface="Arial"/>
              </a:rPr>
              <a:t>: Mortgages make it possible for individuals to buy homes without full upfront payment.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zh-CN" sz="1100">
                <a:solidFill>
                  <a:srgbClr val="000000"/>
                </a:solidFill>
                <a:latin typeface="Arial"/>
                <a:ea typeface="Arial"/>
                <a:cs typeface="Arial"/>
                <a:sym typeface="Arial"/>
              </a:rPr>
              <a:t>Education and Career Advancement</a:t>
            </a:r>
            <a:r>
              <a:rPr lang="zh-CN" sz="1100">
                <a:solidFill>
                  <a:srgbClr val="000000"/>
                </a:solidFill>
                <a:latin typeface="Arial"/>
                <a:ea typeface="Arial"/>
                <a:cs typeface="Arial"/>
                <a:sym typeface="Arial"/>
              </a:rPr>
              <a:t>: Student loans provide access to higher education and better job opportunities.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zh-CN" sz="1100">
                <a:solidFill>
                  <a:srgbClr val="000000"/>
                </a:solidFill>
                <a:latin typeface="Arial"/>
                <a:ea typeface="Arial"/>
                <a:cs typeface="Arial"/>
                <a:sym typeface="Arial"/>
              </a:rPr>
              <a:t>Essential Purchases</a:t>
            </a:r>
            <a:r>
              <a:rPr lang="zh-CN" sz="1100">
                <a:solidFill>
                  <a:srgbClr val="000000"/>
                </a:solidFill>
                <a:latin typeface="Arial"/>
                <a:ea typeface="Arial"/>
                <a:cs typeface="Arial"/>
                <a:sym typeface="Arial"/>
              </a:rPr>
              <a:t>: Auto loans and personal loans enable significant purchases that improve quality of life.</a:t>
            </a:r>
            <a:endParaRPr b="1" sz="13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zh-CN" sz="1100">
                <a:solidFill>
                  <a:srgbClr val="000000"/>
                </a:solidFill>
                <a:latin typeface="Arial"/>
                <a:ea typeface="Arial"/>
                <a:cs typeface="Arial"/>
                <a:sym typeface="Arial"/>
              </a:rPr>
              <a:t>Startup and Expansion Capital</a:t>
            </a:r>
            <a:r>
              <a:rPr lang="zh-CN" sz="1100">
                <a:solidFill>
                  <a:srgbClr val="000000"/>
                </a:solidFill>
                <a:latin typeface="Arial"/>
                <a:ea typeface="Arial"/>
                <a:cs typeface="Arial"/>
                <a:sym typeface="Arial"/>
              </a:rPr>
              <a:t>: Loans provide the necessary funds for entrepreneurs to start and grow businesses.</a:t>
            </a:r>
            <a:endParaRPr sz="1100">
              <a:solidFill>
                <a:srgbClr val="000000"/>
              </a:solidFill>
              <a:latin typeface="Arial"/>
              <a:ea typeface="Arial"/>
              <a:cs typeface="Arial"/>
              <a:sym typeface="Arial"/>
            </a:endParaRPr>
          </a:p>
          <a:p>
            <a:pPr indent="0" lvl="0" marL="0" marR="0" rtl="0" algn="l">
              <a:spcBef>
                <a:spcPts val="1200"/>
              </a:spcBef>
              <a:spcAft>
                <a:spcPts val="0"/>
              </a:spcAft>
              <a:buNone/>
            </a:pPr>
            <a:r>
              <a:rPr b="1" lang="zh-CN" sz="1300">
                <a:solidFill>
                  <a:srgbClr val="000000"/>
                </a:solidFill>
                <a:latin typeface="Arial"/>
                <a:ea typeface="Arial"/>
                <a:cs typeface="Arial"/>
                <a:sym typeface="Arial"/>
              </a:rPr>
              <a:t>Our goal</a:t>
            </a:r>
            <a:endParaRPr sz="1100">
              <a:solidFill>
                <a:srgbClr val="000000"/>
              </a:solidFill>
              <a:latin typeface="Arial"/>
              <a:ea typeface="Arial"/>
              <a:cs typeface="Arial"/>
              <a:sym typeface="Arial"/>
            </a:endParaRPr>
          </a:p>
          <a:p>
            <a:pPr indent="-298450" lvl="0" marL="457200" marR="0" rtl="0" algn="l">
              <a:lnSpc>
                <a:spcPct val="115000"/>
              </a:lnSpc>
              <a:spcBef>
                <a:spcPts val="1200"/>
              </a:spcBef>
              <a:spcAft>
                <a:spcPts val="0"/>
              </a:spcAft>
              <a:buClr>
                <a:srgbClr val="000000"/>
              </a:buClr>
              <a:buSzPts val="1100"/>
              <a:buFont typeface="Arial"/>
              <a:buChar char="●"/>
            </a:pPr>
            <a:r>
              <a:rPr lang="zh-CN" sz="1100">
                <a:solidFill>
                  <a:srgbClr val="000000"/>
                </a:solidFill>
                <a:latin typeface="Arial"/>
                <a:ea typeface="Arial"/>
                <a:cs typeface="Arial"/>
                <a:sym typeface="Arial"/>
              </a:rPr>
              <a:t>Analyze the results of a loan application using a model to determine which variables are most influential.</a:t>
            </a:r>
            <a:endParaRPr sz="1100">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lang="zh-CN" sz="1100">
                <a:solidFill>
                  <a:srgbClr val="000000"/>
                </a:solidFill>
                <a:latin typeface="Arial"/>
                <a:ea typeface="Arial"/>
                <a:cs typeface="Arial"/>
                <a:sym typeface="Arial"/>
              </a:rPr>
              <a:t>Providing loan providers with an efficient tool for making loan decisions.</a:t>
            </a:r>
            <a:endParaRPr sz="1100">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lang="zh-CN" sz="1100">
                <a:solidFill>
                  <a:srgbClr val="000000"/>
                </a:solidFill>
                <a:latin typeface="Arial"/>
                <a:ea typeface="Arial"/>
                <a:cs typeface="Arial"/>
                <a:sym typeface="Arial"/>
              </a:rPr>
              <a:t>Analyze the effectiveness of different models and determine which is most suitable.</a:t>
            </a:r>
            <a:endParaRPr b="1"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286350" y="641175"/>
            <a:ext cx="8571300" cy="942000"/>
          </a:xfrm>
          <a:prstGeom prst="rect">
            <a:avLst/>
          </a:prstGeom>
        </p:spPr>
        <p:txBody>
          <a:bodyPr anchorCtr="0" anchor="ctr" bIns="91425" lIns="91425" spcFirstLastPara="1" rIns="91425" wrap="square" tIns="91425">
            <a:normAutofit fontScale="90000"/>
          </a:bodyPr>
          <a:lstStyle/>
          <a:p>
            <a:pPr indent="0" lvl="0" marL="0" marR="0" rtl="0" algn="l">
              <a:lnSpc>
                <a:spcPct val="150000"/>
              </a:lnSpc>
              <a:spcBef>
                <a:spcPts val="0"/>
              </a:spcBef>
              <a:spcAft>
                <a:spcPts val="0"/>
              </a:spcAft>
              <a:buNone/>
            </a:pPr>
            <a:r>
              <a:rPr lang="zh-CN" sz="5600">
                <a:latin typeface="Arial"/>
                <a:ea typeface="Arial"/>
                <a:cs typeface="Arial"/>
                <a:sym typeface="Arial"/>
              </a:rPr>
              <a:t>2. Data Summary and EDA</a:t>
            </a:r>
            <a:endParaRPr sz="56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idx="1" type="body"/>
          </p:nvPr>
        </p:nvSpPr>
        <p:spPr>
          <a:xfrm>
            <a:off x="311700" y="1266325"/>
            <a:ext cx="8520600" cy="3302700"/>
          </a:xfrm>
          <a:prstGeom prst="rect">
            <a:avLst/>
          </a:prstGeom>
        </p:spPr>
        <p:txBody>
          <a:bodyPr anchorCtr="0" anchor="t" bIns="91425" lIns="91425" spcFirstLastPara="1" rIns="91425" wrap="square" tIns="91425">
            <a:normAutofit fontScale="70000" lnSpcReduction="10000"/>
          </a:bodyPr>
          <a:lstStyle/>
          <a:p>
            <a:pPr indent="0" lvl="0" marL="0" rtl="0" algn="l">
              <a:lnSpc>
                <a:spcPct val="122222"/>
              </a:lnSpc>
              <a:spcBef>
                <a:spcPts val="0"/>
              </a:spcBef>
              <a:spcAft>
                <a:spcPts val="0"/>
              </a:spcAft>
              <a:buNone/>
            </a:pPr>
            <a:r>
              <a:rPr b="1" lang="zh-CN" sz="2842">
                <a:solidFill>
                  <a:srgbClr val="202124"/>
                </a:solidFill>
                <a:highlight>
                  <a:srgbClr val="FFFFFF"/>
                </a:highlight>
                <a:latin typeface="Arial"/>
                <a:ea typeface="Arial"/>
                <a:cs typeface="Arial"/>
                <a:sym typeface="Arial"/>
              </a:rPr>
              <a:t>Loan Approval Prediction</a:t>
            </a:r>
            <a:r>
              <a:rPr b="1" lang="zh-CN" sz="2985">
                <a:solidFill>
                  <a:srgbClr val="202124"/>
                </a:solidFill>
                <a:highlight>
                  <a:srgbClr val="FFFFFF"/>
                </a:highlight>
                <a:latin typeface="Arial"/>
                <a:ea typeface="Arial"/>
                <a:cs typeface="Arial"/>
                <a:sym typeface="Arial"/>
              </a:rPr>
              <a:t> </a:t>
            </a:r>
            <a:r>
              <a:rPr lang="zh-CN" sz="1200">
                <a:solidFill>
                  <a:srgbClr val="5F6368"/>
                </a:solidFill>
                <a:highlight>
                  <a:srgbClr val="FFFFFF"/>
                </a:highlight>
                <a:latin typeface="Arial"/>
                <a:ea typeface="Arial"/>
                <a:cs typeface="Arial"/>
                <a:sym typeface="Arial"/>
              </a:rPr>
              <a:t>Playground Series - Season 4, Episode 10</a:t>
            </a:r>
            <a:endParaRPr sz="1200">
              <a:solidFill>
                <a:srgbClr val="5F6368"/>
              </a:solidFill>
              <a:highlight>
                <a:srgbClr val="FFFFFF"/>
              </a:highlight>
              <a:latin typeface="Arial"/>
              <a:ea typeface="Arial"/>
              <a:cs typeface="Arial"/>
              <a:sym typeface="Arial"/>
            </a:endParaRPr>
          </a:p>
          <a:p>
            <a:pPr indent="0" lvl="0" marL="0" marR="0" rtl="0" algn="l">
              <a:lnSpc>
                <a:spcPct val="115000"/>
              </a:lnSpc>
              <a:spcBef>
                <a:spcPts val="1200"/>
              </a:spcBef>
              <a:spcAft>
                <a:spcPts val="0"/>
              </a:spcAft>
              <a:buNone/>
            </a:pPr>
            <a:r>
              <a:t/>
            </a:r>
            <a:endParaRPr b="1" sz="1625">
              <a:solidFill>
                <a:srgbClr val="000000"/>
              </a:solidFill>
              <a:latin typeface="Arial"/>
              <a:ea typeface="Arial"/>
              <a:cs typeface="Arial"/>
              <a:sym typeface="Arial"/>
            </a:endParaRPr>
          </a:p>
          <a:p>
            <a:pPr indent="-300862" lvl="0" marL="457200" marR="0" rtl="0" algn="l">
              <a:lnSpc>
                <a:spcPct val="115000"/>
              </a:lnSpc>
              <a:spcBef>
                <a:spcPts val="1200"/>
              </a:spcBef>
              <a:spcAft>
                <a:spcPts val="0"/>
              </a:spcAft>
              <a:buClr>
                <a:srgbClr val="000000"/>
              </a:buClr>
              <a:buSzPct val="100000"/>
              <a:buFont typeface="Arial"/>
              <a:buChar char="●"/>
            </a:pPr>
            <a:r>
              <a:rPr b="1" lang="zh-CN" sz="1625">
                <a:solidFill>
                  <a:srgbClr val="000000"/>
                </a:solidFill>
                <a:latin typeface="Arial"/>
                <a:ea typeface="Arial"/>
                <a:cs typeface="Arial"/>
                <a:sym typeface="Arial"/>
              </a:rPr>
              <a:t>Dataset:</a:t>
            </a:r>
            <a:r>
              <a:rPr lang="zh-CN" sz="1625">
                <a:solidFill>
                  <a:srgbClr val="000000"/>
                </a:solidFill>
                <a:latin typeface="Arial"/>
                <a:ea typeface="Arial"/>
                <a:cs typeface="Arial"/>
                <a:sym typeface="Arial"/>
              </a:rPr>
              <a:t> credit_risk_dataset.csv</a:t>
            </a:r>
            <a:endParaRPr sz="1625">
              <a:solidFill>
                <a:srgbClr val="000000"/>
              </a:solidFill>
              <a:latin typeface="Arial"/>
              <a:ea typeface="Arial"/>
              <a:cs typeface="Arial"/>
              <a:sym typeface="Arial"/>
            </a:endParaRPr>
          </a:p>
          <a:p>
            <a:pPr indent="0" lvl="0" marL="457200" marR="0" rtl="0" algn="l">
              <a:lnSpc>
                <a:spcPct val="115000"/>
              </a:lnSpc>
              <a:spcBef>
                <a:spcPts val="1200"/>
              </a:spcBef>
              <a:spcAft>
                <a:spcPts val="0"/>
              </a:spcAft>
              <a:buNone/>
            </a:pPr>
            <a:r>
              <a:t/>
            </a:r>
            <a:endParaRPr sz="1625">
              <a:solidFill>
                <a:srgbClr val="000000"/>
              </a:solidFill>
              <a:latin typeface="Arial"/>
              <a:ea typeface="Arial"/>
              <a:cs typeface="Arial"/>
              <a:sym typeface="Arial"/>
            </a:endParaRPr>
          </a:p>
          <a:p>
            <a:pPr indent="-300862" lvl="0" marL="457200" marR="0" rtl="0" algn="l">
              <a:lnSpc>
                <a:spcPct val="115000"/>
              </a:lnSpc>
              <a:spcBef>
                <a:spcPts val="1200"/>
              </a:spcBef>
              <a:spcAft>
                <a:spcPts val="0"/>
              </a:spcAft>
              <a:buClr>
                <a:srgbClr val="000000"/>
              </a:buClr>
              <a:buSzPct val="100000"/>
              <a:buFont typeface="Arial"/>
              <a:buChar char="●"/>
            </a:pPr>
            <a:r>
              <a:rPr b="1" lang="zh-CN" sz="1625">
                <a:solidFill>
                  <a:srgbClr val="000000"/>
                </a:solidFill>
                <a:latin typeface="Arial"/>
                <a:ea typeface="Arial"/>
                <a:cs typeface="Arial"/>
                <a:sym typeface="Arial"/>
              </a:rPr>
              <a:t>Content:</a:t>
            </a:r>
            <a:r>
              <a:rPr lang="zh-CN" sz="1625">
                <a:solidFill>
                  <a:srgbClr val="000000"/>
                </a:solidFill>
                <a:latin typeface="Arial"/>
                <a:ea typeface="Arial"/>
                <a:cs typeface="Arial"/>
                <a:sym typeface="Arial"/>
              </a:rPr>
              <a:t> Includes variables related to the loan application, such as loan amount, loan term, and credit history status.</a:t>
            </a:r>
            <a:endParaRPr sz="1625">
              <a:solidFill>
                <a:srgbClr val="000000"/>
              </a:solidFill>
              <a:latin typeface="Arial"/>
              <a:ea typeface="Arial"/>
              <a:cs typeface="Arial"/>
              <a:sym typeface="Arial"/>
            </a:endParaRPr>
          </a:p>
          <a:p>
            <a:pPr indent="0" lvl="0" marL="457200" marR="0" rtl="0" algn="l">
              <a:lnSpc>
                <a:spcPct val="115000"/>
              </a:lnSpc>
              <a:spcBef>
                <a:spcPts val="1200"/>
              </a:spcBef>
              <a:spcAft>
                <a:spcPts val="0"/>
              </a:spcAft>
              <a:buNone/>
            </a:pPr>
            <a:r>
              <a:t/>
            </a:r>
            <a:endParaRPr sz="1625">
              <a:solidFill>
                <a:srgbClr val="000000"/>
              </a:solidFill>
              <a:latin typeface="Arial"/>
              <a:ea typeface="Arial"/>
              <a:cs typeface="Arial"/>
              <a:sym typeface="Arial"/>
            </a:endParaRPr>
          </a:p>
          <a:p>
            <a:pPr indent="-300862" lvl="0" marL="457200" marR="0" rtl="0" algn="l">
              <a:lnSpc>
                <a:spcPct val="115000"/>
              </a:lnSpc>
              <a:spcBef>
                <a:spcPts val="1200"/>
              </a:spcBef>
              <a:spcAft>
                <a:spcPts val="0"/>
              </a:spcAft>
              <a:buClr>
                <a:srgbClr val="000000"/>
              </a:buClr>
              <a:buSzPct val="100000"/>
              <a:buFont typeface="Arial"/>
              <a:buChar char="●"/>
            </a:pPr>
            <a:r>
              <a:rPr b="1" lang="zh-CN" sz="1625">
                <a:solidFill>
                  <a:srgbClr val="000000"/>
                </a:solidFill>
                <a:latin typeface="Arial"/>
                <a:ea typeface="Arial"/>
                <a:cs typeface="Arial"/>
                <a:sym typeface="Arial"/>
              </a:rPr>
              <a:t>Purpose:</a:t>
            </a:r>
            <a:r>
              <a:rPr lang="zh-CN" sz="1625">
                <a:solidFill>
                  <a:srgbClr val="000000"/>
                </a:solidFill>
                <a:latin typeface="Arial"/>
                <a:ea typeface="Arial"/>
                <a:cs typeface="Arial"/>
                <a:sym typeface="Arial"/>
              </a:rPr>
              <a:t> Evaluate the impact of financial variables on the likelihood of loan approval.</a:t>
            </a:r>
            <a:endParaRPr sz="1625">
              <a:solidFill>
                <a:srgbClr val="000000"/>
              </a:solidFill>
              <a:latin typeface="Arial"/>
              <a:ea typeface="Arial"/>
              <a:cs typeface="Arial"/>
              <a:sym typeface="Arial"/>
            </a:endParaRPr>
          </a:p>
          <a:p>
            <a:pPr indent="0" lvl="0" marL="457200" rtl="0" algn="l">
              <a:spcBef>
                <a:spcPts val="1200"/>
              </a:spcBef>
              <a:spcAft>
                <a:spcPts val="0"/>
              </a:spcAft>
              <a:buNone/>
            </a:pPr>
            <a:r>
              <a:t/>
            </a:r>
            <a:endParaRPr sz="1625">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90" name="Google Shape;90;p1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sz="4128">
                <a:highlight>
                  <a:schemeClr val="lt1"/>
                </a:highlight>
                <a:latin typeface="Arial"/>
                <a:ea typeface="Arial"/>
                <a:cs typeface="Arial"/>
                <a:sym typeface="Arial"/>
              </a:rPr>
              <a:t>Data Source</a:t>
            </a:r>
            <a:endParaRPr>
              <a:highlight>
                <a:schemeClr val="lt1"/>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18"/>
          <p:cNvPicPr preferRelativeResize="0"/>
          <p:nvPr/>
        </p:nvPicPr>
        <p:blipFill>
          <a:blip r:embed="rId3">
            <a:alphaModFix/>
          </a:blip>
          <a:stretch>
            <a:fillRect/>
          </a:stretch>
        </p:blipFill>
        <p:spPr>
          <a:xfrm>
            <a:off x="189712" y="163875"/>
            <a:ext cx="8764575" cy="46527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p:cNvPicPr preferRelativeResize="0"/>
          <p:nvPr/>
        </p:nvPicPr>
        <p:blipFill>
          <a:blip r:embed="rId3">
            <a:alphaModFix/>
          </a:blip>
          <a:stretch>
            <a:fillRect/>
          </a:stretch>
        </p:blipFill>
        <p:spPr>
          <a:xfrm>
            <a:off x="1617600" y="931425"/>
            <a:ext cx="5908798" cy="3662248"/>
          </a:xfrm>
          <a:prstGeom prst="rect">
            <a:avLst/>
          </a:prstGeom>
          <a:noFill/>
          <a:ln>
            <a:noFill/>
          </a:ln>
        </p:spPr>
      </p:pic>
      <p:sp>
        <p:nvSpPr>
          <p:cNvPr id="101" name="Google Shape;101;p19"/>
          <p:cNvSpPr txBox="1"/>
          <p:nvPr>
            <p:ph type="title"/>
          </p:nvPr>
        </p:nvSpPr>
        <p:spPr>
          <a:xfrm>
            <a:off x="1617600" y="19640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Hist of all variables(ppt only)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20"/>
          <p:cNvPicPr preferRelativeResize="0"/>
          <p:nvPr/>
        </p:nvPicPr>
        <p:blipFill>
          <a:blip r:embed="rId3">
            <a:alphaModFix/>
          </a:blip>
          <a:stretch>
            <a:fillRect/>
          </a:stretch>
        </p:blipFill>
        <p:spPr>
          <a:xfrm>
            <a:off x="1795365" y="567800"/>
            <a:ext cx="5553275" cy="40078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marR="0" rtl="0" algn="l">
              <a:lnSpc>
                <a:spcPct val="150000"/>
              </a:lnSpc>
              <a:spcBef>
                <a:spcPts val="0"/>
              </a:spcBef>
              <a:spcAft>
                <a:spcPts val="0"/>
              </a:spcAft>
              <a:buNone/>
            </a:pPr>
            <a:r>
              <a:rPr lang="zh-CN" sz="4128">
                <a:highlight>
                  <a:schemeClr val="lt1"/>
                </a:highlight>
                <a:latin typeface="Arial"/>
                <a:ea typeface="Arial"/>
                <a:cs typeface="Arial"/>
                <a:sym typeface="Arial"/>
              </a:rPr>
              <a:t>Data Preparation and Preprocessing</a:t>
            </a:r>
            <a:endParaRPr/>
          </a:p>
        </p:txBody>
      </p:sp>
      <p:sp>
        <p:nvSpPr>
          <p:cNvPr id="112" name="Google Shape;112;p21"/>
          <p:cNvSpPr txBox="1"/>
          <p:nvPr>
            <p:ph idx="1" type="body"/>
          </p:nvPr>
        </p:nvSpPr>
        <p:spPr>
          <a:xfrm>
            <a:off x="311700" y="1271225"/>
            <a:ext cx="8520600" cy="3302700"/>
          </a:xfrm>
          <a:prstGeom prst="rect">
            <a:avLst/>
          </a:prstGeom>
        </p:spPr>
        <p:txBody>
          <a:bodyPr anchorCtr="0" anchor="t" bIns="91425" lIns="91425" spcFirstLastPara="1" rIns="91425" wrap="square" tIns="91425">
            <a:normAutofit/>
          </a:bodyPr>
          <a:lstStyle/>
          <a:p>
            <a:pPr indent="0" lvl="0" marL="0" marR="0" rtl="0" algn="l">
              <a:lnSpc>
                <a:spcPct val="150000"/>
              </a:lnSpc>
              <a:spcBef>
                <a:spcPts val="0"/>
              </a:spcBef>
              <a:spcAft>
                <a:spcPts val="0"/>
              </a:spcAft>
              <a:buNone/>
            </a:pPr>
            <a:r>
              <a:rPr lang="zh-CN" sz="1744">
                <a:solidFill>
                  <a:srgbClr val="202124"/>
                </a:solidFill>
                <a:latin typeface="Arial"/>
                <a:ea typeface="Arial"/>
                <a:cs typeface="Arial"/>
                <a:sym typeface="Arial"/>
              </a:rPr>
              <a:t>●	No missing values so deletion of columns and data imputation unnecessary</a:t>
            </a:r>
            <a:endParaRPr sz="1744">
              <a:solidFill>
                <a:srgbClr val="202124"/>
              </a:solidFill>
              <a:latin typeface="Arial"/>
              <a:ea typeface="Arial"/>
              <a:cs typeface="Arial"/>
              <a:sym typeface="Arial"/>
            </a:endParaRPr>
          </a:p>
          <a:p>
            <a:pPr indent="0" lvl="0" marL="0" marR="0" rtl="0" algn="l">
              <a:lnSpc>
                <a:spcPct val="150000"/>
              </a:lnSpc>
              <a:spcBef>
                <a:spcPts val="0"/>
              </a:spcBef>
              <a:spcAft>
                <a:spcPts val="0"/>
              </a:spcAft>
              <a:buNone/>
            </a:pPr>
            <a:r>
              <a:rPr lang="zh-CN" sz="1744">
                <a:solidFill>
                  <a:srgbClr val="202124"/>
                </a:solidFill>
                <a:latin typeface="Arial"/>
                <a:ea typeface="Arial"/>
                <a:cs typeface="Arial"/>
                <a:sym typeface="Arial"/>
              </a:rPr>
              <a:t>●	keep the applicants start work after 14 years old</a:t>
            </a:r>
            <a:endParaRPr sz="1744">
              <a:solidFill>
                <a:srgbClr val="202124"/>
              </a:solidFill>
              <a:latin typeface="Arial"/>
              <a:ea typeface="Arial"/>
              <a:cs typeface="Arial"/>
              <a:sym typeface="Arial"/>
            </a:endParaRPr>
          </a:p>
          <a:p>
            <a:pPr indent="0" lvl="0" marL="0" marR="0" rtl="0" algn="l">
              <a:lnSpc>
                <a:spcPct val="150000"/>
              </a:lnSpc>
              <a:spcBef>
                <a:spcPts val="0"/>
              </a:spcBef>
              <a:spcAft>
                <a:spcPts val="0"/>
              </a:spcAft>
              <a:buNone/>
            </a:pPr>
            <a:r>
              <a:rPr lang="zh-CN" sz="1744">
                <a:solidFill>
                  <a:srgbClr val="202124"/>
                </a:solidFill>
                <a:latin typeface="Arial"/>
                <a:ea typeface="Arial"/>
                <a:cs typeface="Arial"/>
                <a:sym typeface="Arial"/>
              </a:rPr>
              <a:t>●	Edit 4 variables from categorical to integer values</a:t>
            </a:r>
            <a:endParaRPr sz="1744">
              <a:solidFill>
                <a:srgbClr val="202124"/>
              </a:solidFill>
              <a:latin typeface="Arial"/>
              <a:ea typeface="Arial"/>
              <a:cs typeface="Arial"/>
              <a:sym typeface="Arial"/>
            </a:endParaRPr>
          </a:p>
          <a:p>
            <a:pPr indent="0" lvl="0" marL="0" marR="0" rtl="0" algn="l">
              <a:lnSpc>
                <a:spcPct val="150000"/>
              </a:lnSpc>
              <a:spcBef>
                <a:spcPts val="0"/>
              </a:spcBef>
              <a:spcAft>
                <a:spcPts val="0"/>
              </a:spcAft>
              <a:buNone/>
            </a:pPr>
            <a:r>
              <a:rPr lang="zh-CN" sz="1744">
                <a:solidFill>
                  <a:srgbClr val="202124"/>
                </a:solidFill>
                <a:latin typeface="Arial"/>
                <a:ea typeface="Arial"/>
                <a:cs typeface="Arial"/>
                <a:sym typeface="Arial"/>
              </a:rPr>
              <a:t>	{person_home_ownership, loan_intent, cb_person_default_on_file, loan_grade}</a:t>
            </a:r>
            <a:endParaRPr sz="1744">
              <a:solidFill>
                <a:srgbClr val="202124"/>
              </a:solidFill>
              <a:latin typeface="Arial"/>
              <a:ea typeface="Arial"/>
              <a:cs typeface="Arial"/>
              <a:sym typeface="Arial"/>
            </a:endParaRPr>
          </a:p>
          <a:p>
            <a:pPr indent="0" lvl="0" marL="0" marR="0" rtl="0" algn="l">
              <a:lnSpc>
                <a:spcPct val="150000"/>
              </a:lnSpc>
              <a:spcBef>
                <a:spcPts val="0"/>
              </a:spcBef>
              <a:spcAft>
                <a:spcPts val="0"/>
              </a:spcAft>
              <a:buNone/>
            </a:pPr>
            <a:r>
              <a:rPr lang="zh-CN" sz="1744">
                <a:solidFill>
                  <a:srgbClr val="202124"/>
                </a:solidFill>
                <a:latin typeface="Arial"/>
                <a:ea typeface="Arial"/>
                <a:cs typeface="Arial"/>
                <a:sym typeface="Arial"/>
              </a:rPr>
              <a:t>●	drop the data with applicant age greater than 100</a:t>
            </a:r>
            <a:endParaRPr sz="1300">
              <a:solidFill>
                <a:srgbClr val="000000"/>
              </a:solidFill>
              <a:latin typeface="Arial"/>
              <a:ea typeface="Arial"/>
              <a:cs typeface="Arial"/>
              <a:sym typeface="Arial"/>
            </a:endParaRPr>
          </a:p>
          <a:p>
            <a:pPr indent="0" lvl="0" marL="0" marR="0" rtl="0" algn="l">
              <a:lnSpc>
                <a:spcPct val="150000"/>
              </a:lnSpc>
              <a:spcBef>
                <a:spcPts val="0"/>
              </a:spcBef>
              <a:spcAft>
                <a:spcPts val="0"/>
              </a:spcAft>
              <a:buNone/>
            </a:pPr>
            <a:r>
              <a:rPr lang="zh-CN" sz="1744">
                <a:solidFill>
                  <a:srgbClr val="202124"/>
                </a:solidFill>
                <a:latin typeface="Arial"/>
                <a:ea typeface="Arial"/>
                <a:cs typeface="Arial"/>
                <a:sym typeface="Arial"/>
              </a:rPr>
              <a:t>●	Drop the column of loan_int_rate as the correlation to loan_grade is too high</a:t>
            </a:r>
            <a:endParaRPr sz="1744">
              <a:solidFill>
                <a:srgbClr val="202124"/>
              </a:solidFill>
              <a:latin typeface="Arial"/>
              <a:ea typeface="Arial"/>
              <a:cs typeface="Arial"/>
              <a:sym typeface="Arial"/>
            </a:endParaRPr>
          </a:p>
          <a:p>
            <a:pPr indent="0" lvl="0" marL="0" marR="0" rtl="0" algn="l">
              <a:lnSpc>
                <a:spcPct val="150000"/>
              </a:lnSpc>
              <a:spcBef>
                <a:spcPts val="0"/>
              </a:spcBef>
              <a:spcAft>
                <a:spcPts val="0"/>
              </a:spcAft>
              <a:buNone/>
            </a:pPr>
            <a:r>
              <a:rPr lang="zh-CN" sz="1744">
                <a:solidFill>
                  <a:srgbClr val="202124"/>
                </a:solidFill>
                <a:latin typeface="Arial"/>
                <a:ea typeface="Arial"/>
                <a:cs typeface="Arial"/>
                <a:sym typeface="Arial"/>
              </a:rPr>
              <a:t>	(Shows in correlation heat map in 2.3)</a:t>
            </a:r>
            <a:endParaRPr sz="1744">
              <a:solidFill>
                <a:srgbClr val="202124"/>
              </a:solidFill>
              <a:latin typeface="Arial"/>
              <a:ea typeface="Arial"/>
              <a:cs typeface="Arial"/>
              <a:sym typeface="Arial"/>
            </a:endParaRPr>
          </a:p>
          <a:p>
            <a:pPr indent="0" lvl="0" marL="0" marR="0" rtl="0" algn="l">
              <a:lnSpc>
                <a:spcPct val="150000"/>
              </a:lnSpc>
              <a:spcBef>
                <a:spcPts val="0"/>
              </a:spcBef>
              <a:spcAft>
                <a:spcPts val="0"/>
              </a:spcAft>
              <a:buNone/>
            </a:pPr>
            <a:r>
              <a:t/>
            </a:r>
            <a:endParaRPr sz="1544">
              <a:solidFill>
                <a:srgbClr val="202124"/>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692700" y="814800"/>
            <a:ext cx="8571300" cy="942000"/>
          </a:xfrm>
          <a:prstGeom prst="rect">
            <a:avLst/>
          </a:prstGeom>
        </p:spPr>
        <p:txBody>
          <a:bodyPr anchorCtr="0" anchor="ctr" bIns="91425" lIns="91425" spcFirstLastPara="1" rIns="91425" wrap="square" tIns="91425">
            <a:noAutofit/>
          </a:bodyPr>
          <a:lstStyle/>
          <a:p>
            <a:pPr indent="0" lvl="0" marL="0" marR="0" rtl="0" algn="l">
              <a:lnSpc>
                <a:spcPct val="150000"/>
              </a:lnSpc>
              <a:spcBef>
                <a:spcPts val="0"/>
              </a:spcBef>
              <a:spcAft>
                <a:spcPts val="0"/>
              </a:spcAft>
              <a:buNone/>
            </a:pPr>
            <a:r>
              <a:rPr lang="zh-CN" sz="5600">
                <a:latin typeface="Arial"/>
                <a:ea typeface="Arial"/>
                <a:cs typeface="Arial"/>
                <a:sym typeface="Arial"/>
              </a:rPr>
              <a:t>3. Models and Results</a:t>
            </a:r>
            <a:endParaRPr sz="5600">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743625" y="32235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Logistic Regression</a:t>
            </a:r>
            <a:endParaRPr/>
          </a:p>
        </p:txBody>
      </p:sp>
      <p:pic>
        <p:nvPicPr>
          <p:cNvPr id="123" name="Google Shape;123;p23"/>
          <p:cNvPicPr preferRelativeResize="0"/>
          <p:nvPr/>
        </p:nvPicPr>
        <p:blipFill>
          <a:blip r:embed="rId3">
            <a:alphaModFix/>
          </a:blip>
          <a:stretch>
            <a:fillRect/>
          </a:stretch>
        </p:blipFill>
        <p:spPr>
          <a:xfrm>
            <a:off x="221775" y="1230950"/>
            <a:ext cx="4350219" cy="3686275"/>
          </a:xfrm>
          <a:prstGeom prst="rect">
            <a:avLst/>
          </a:prstGeom>
          <a:noFill/>
          <a:ln>
            <a:noFill/>
          </a:ln>
        </p:spPr>
      </p:pic>
      <p:sp>
        <p:nvSpPr>
          <p:cNvPr id="124" name="Google Shape;124;p23"/>
          <p:cNvSpPr txBox="1"/>
          <p:nvPr/>
        </p:nvSpPr>
        <p:spPr>
          <a:xfrm>
            <a:off x="5022038" y="1690125"/>
            <a:ext cx="3636900" cy="3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200"/>
              <a:t>The logistic regression model achieved </a:t>
            </a:r>
            <a:r>
              <a:rPr b="1" lang="zh-CN" sz="1000">
                <a:highlight>
                  <a:srgbClr val="FFFFFF"/>
                </a:highlight>
              </a:rPr>
              <a:t>89.12</a:t>
            </a:r>
            <a:r>
              <a:rPr b="1" lang="zh-CN" sz="1200"/>
              <a:t>% accuracy</a:t>
            </a:r>
            <a:r>
              <a:rPr lang="zh-CN" sz="1200"/>
              <a:t>, excelling at predicting rejected loans but struggling with approved loans.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zh-CN" sz="1200"/>
              <a:t>Key drivers of approval include </a:t>
            </a:r>
            <a:r>
              <a:rPr b="1" lang="zh-CN" sz="1200"/>
              <a:t>loan grade</a:t>
            </a:r>
            <a:r>
              <a:rPr lang="zh-CN" sz="1200"/>
              <a:t> (strong positive) and </a:t>
            </a:r>
            <a:r>
              <a:rPr b="1" lang="zh-CN" sz="1200"/>
              <a:t>loan amount</a:t>
            </a:r>
            <a:r>
              <a:rPr lang="zh-CN" sz="1200"/>
              <a:t>, while </a:t>
            </a:r>
            <a:r>
              <a:rPr b="1" lang="zh-CN" sz="1200"/>
              <a:t>person income</a:t>
            </a:r>
            <a:r>
              <a:rPr lang="zh-CN" sz="1200"/>
              <a:t> negatively impacts approval odds, requiring further investigation.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zh-CN" sz="1200"/>
              <a:t>Insignificant variables like </a:t>
            </a:r>
            <a:r>
              <a:rPr b="1" lang="zh-CN" sz="1200"/>
              <a:t>credit history length</a:t>
            </a:r>
            <a:r>
              <a:rPr lang="zh-CN" sz="1200"/>
              <a:t> could be reconsidered. Improvements, such as adjusting thresholds or balancing classes, are needed to better identify eligible applicants and improve recall.</a:t>
            </a:r>
            <a:endParaRPr sz="1900">
              <a:solidFill>
                <a:schemeClr val="dk2"/>
              </a:solidFill>
              <a:latin typeface="Open Sans"/>
              <a:ea typeface="Open Sans"/>
              <a:cs typeface="Open Sans"/>
              <a:sym typeface="Open Sans"/>
            </a:endParaRPr>
          </a:p>
        </p:txBody>
      </p:sp>
      <p:pic>
        <p:nvPicPr>
          <p:cNvPr id="125" name="Google Shape;125;p23"/>
          <p:cNvPicPr preferRelativeResize="0"/>
          <p:nvPr/>
        </p:nvPicPr>
        <p:blipFill>
          <a:blip r:embed="rId4">
            <a:alphaModFix/>
          </a:blip>
          <a:stretch>
            <a:fillRect/>
          </a:stretch>
        </p:blipFill>
        <p:spPr>
          <a:xfrm>
            <a:off x="4606250" y="96846"/>
            <a:ext cx="4468475" cy="1470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1378500" y="814800"/>
            <a:ext cx="8571300" cy="942000"/>
          </a:xfrm>
          <a:prstGeom prst="rect">
            <a:avLst/>
          </a:prstGeom>
        </p:spPr>
        <p:txBody>
          <a:bodyPr anchorCtr="0" anchor="ctr" bIns="91425" lIns="91425" spcFirstLastPara="1" rIns="91425" wrap="square" tIns="91425">
            <a:noAutofit/>
          </a:bodyPr>
          <a:lstStyle/>
          <a:p>
            <a:pPr indent="457200" lvl="0" marL="0" marR="0" rtl="0" algn="l">
              <a:lnSpc>
                <a:spcPct val="150000"/>
              </a:lnSpc>
              <a:spcBef>
                <a:spcPts val="0"/>
              </a:spcBef>
              <a:spcAft>
                <a:spcPts val="0"/>
              </a:spcAft>
              <a:buNone/>
            </a:pPr>
            <a:r>
              <a:rPr lang="zh-CN" sz="5600">
                <a:latin typeface="Arial"/>
                <a:ea typeface="Arial"/>
                <a:cs typeface="Arial"/>
                <a:sym typeface="Arial"/>
              </a:rPr>
              <a:t>Decision Tree</a:t>
            </a:r>
            <a:endParaRPr sz="4400">
              <a:latin typeface="Georgia"/>
              <a:ea typeface="Georgia"/>
              <a:cs typeface="Georgia"/>
              <a:sym typeface="Georgia"/>
            </a:endParaRPr>
          </a:p>
        </p:txBody>
      </p:sp>
      <p:sp>
        <p:nvSpPr>
          <p:cNvPr id="131" name="Google Shape;131;p24"/>
          <p:cNvSpPr txBox="1"/>
          <p:nvPr/>
        </p:nvSpPr>
        <p:spPr>
          <a:xfrm>
            <a:off x="2274175" y="2879000"/>
            <a:ext cx="4117800" cy="175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Open Sans"/>
              <a:ea typeface="Open Sans"/>
              <a:cs typeface="Open Sans"/>
              <a:sym typeface="Open Sans"/>
            </a:endParaRPr>
          </a:p>
        </p:txBody>
      </p:sp>
      <p:sp>
        <p:nvSpPr>
          <p:cNvPr id="132" name="Google Shape;132;p24"/>
          <p:cNvSpPr txBox="1"/>
          <p:nvPr/>
        </p:nvSpPr>
        <p:spPr>
          <a:xfrm>
            <a:off x="2414500" y="2879000"/>
            <a:ext cx="4117800" cy="175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lt1"/>
                </a:solidFill>
                <a:latin typeface="Open Sans"/>
                <a:ea typeface="Open Sans"/>
                <a:cs typeface="Open Sans"/>
                <a:sym typeface="Open Sans"/>
              </a:rPr>
              <a:t>Accuracy</a:t>
            </a:r>
            <a:r>
              <a:rPr lang="zh-CN" sz="1800">
                <a:solidFill>
                  <a:schemeClr val="lt1"/>
                </a:solidFill>
                <a:latin typeface="Open Sans"/>
                <a:ea typeface="Open Sans"/>
                <a:cs typeface="Open Sans"/>
                <a:sym typeface="Open Sans"/>
              </a:rPr>
              <a:t> train data: 94.26%</a:t>
            </a:r>
            <a:endParaRPr sz="1800">
              <a:solidFill>
                <a:schemeClr val="lt1"/>
              </a:solidFill>
              <a:latin typeface="Open Sans"/>
              <a:ea typeface="Open Sans"/>
              <a:cs typeface="Open Sans"/>
              <a:sym typeface="Open Sans"/>
            </a:endParaRPr>
          </a:p>
          <a:p>
            <a:pPr indent="0" lvl="0" marL="0" rtl="0" algn="l">
              <a:spcBef>
                <a:spcPts val="0"/>
              </a:spcBef>
              <a:spcAft>
                <a:spcPts val="0"/>
              </a:spcAft>
              <a:buNone/>
            </a:pPr>
            <a:r>
              <a:rPr lang="zh-CN" sz="1800">
                <a:solidFill>
                  <a:schemeClr val="lt1"/>
                </a:solidFill>
                <a:latin typeface="Open Sans"/>
                <a:ea typeface="Open Sans"/>
                <a:cs typeface="Open Sans"/>
                <a:sym typeface="Open Sans"/>
              </a:rPr>
              <a:t>Accuracy predict: 93.86%</a:t>
            </a:r>
            <a:endParaRPr sz="1800">
              <a:solidFill>
                <a:schemeClr val="lt1"/>
              </a:solidFill>
              <a:latin typeface="Open Sans"/>
              <a:ea typeface="Open Sans"/>
              <a:cs typeface="Open Sans"/>
              <a:sym typeface="Open Sans"/>
            </a:endParaRPr>
          </a:p>
          <a:p>
            <a:pPr indent="0" lvl="0" marL="0" rtl="0" algn="l">
              <a:spcBef>
                <a:spcPts val="0"/>
              </a:spcBef>
              <a:spcAft>
                <a:spcPts val="0"/>
              </a:spcAft>
              <a:buNone/>
            </a:pPr>
            <a:r>
              <a:rPr lang="zh-CN" sz="1800">
                <a:solidFill>
                  <a:schemeClr val="lt1"/>
                </a:solidFill>
                <a:latin typeface="Open Sans"/>
                <a:ea typeface="Open Sans"/>
                <a:cs typeface="Open Sans"/>
                <a:sym typeface="Open Sans"/>
              </a:rPr>
              <a:t>Precision: 86.73%</a:t>
            </a:r>
            <a:endParaRPr sz="1800">
              <a:solidFill>
                <a:schemeClr val="lt1"/>
              </a:solidFill>
              <a:latin typeface="Open Sans"/>
              <a:ea typeface="Open Sans"/>
              <a:cs typeface="Open Sans"/>
              <a:sym typeface="Open Sans"/>
            </a:endParaRPr>
          </a:p>
          <a:p>
            <a:pPr indent="0" lvl="0" marL="0" rtl="0" algn="l">
              <a:spcBef>
                <a:spcPts val="0"/>
              </a:spcBef>
              <a:spcAft>
                <a:spcPts val="0"/>
              </a:spcAft>
              <a:buNone/>
            </a:pPr>
            <a:r>
              <a:rPr lang="zh-CN" sz="1800">
                <a:solidFill>
                  <a:schemeClr val="lt1"/>
                </a:solidFill>
                <a:latin typeface="Open Sans"/>
                <a:ea typeface="Open Sans"/>
                <a:cs typeface="Open Sans"/>
                <a:sym typeface="Open Sans"/>
              </a:rPr>
              <a:t>Recall: 66.67%</a:t>
            </a:r>
            <a:endParaRPr sz="1800">
              <a:solidFill>
                <a:schemeClr val="lt1"/>
              </a:solidFill>
              <a:latin typeface="Open Sans"/>
              <a:ea typeface="Open Sans"/>
              <a:cs typeface="Open Sans"/>
              <a:sym typeface="Open Sans"/>
            </a:endParaRPr>
          </a:p>
          <a:p>
            <a:pPr indent="0" lvl="0" marL="0" rtl="0" algn="l">
              <a:spcBef>
                <a:spcPts val="0"/>
              </a:spcBef>
              <a:spcAft>
                <a:spcPts val="0"/>
              </a:spcAft>
              <a:buNone/>
            </a:pPr>
            <a:r>
              <a:rPr lang="zh-CN" sz="1800">
                <a:solidFill>
                  <a:schemeClr val="lt1"/>
                </a:solidFill>
                <a:latin typeface="Open Sans"/>
                <a:ea typeface="Open Sans"/>
                <a:cs typeface="Open Sans"/>
                <a:sym typeface="Open Sans"/>
              </a:rPr>
              <a:t>F1_score: 75.39%</a:t>
            </a:r>
            <a:endParaRPr sz="1800">
              <a:solidFill>
                <a:schemeClr val="lt1"/>
              </a:solidFill>
              <a:latin typeface="Open Sans"/>
              <a:ea typeface="Open Sans"/>
              <a:cs typeface="Open Sans"/>
              <a:sym typeface="Open Sans"/>
            </a:endParaRPr>
          </a:p>
          <a:p>
            <a:pPr indent="0" lvl="0" marL="0" rtl="0" algn="l">
              <a:spcBef>
                <a:spcPts val="0"/>
              </a:spcBef>
              <a:spcAft>
                <a:spcPts val="0"/>
              </a:spcAft>
              <a:buNone/>
            </a:pPr>
            <a:r>
              <a:t/>
            </a:r>
            <a:endParaRPr sz="1800">
              <a:solidFill>
                <a:schemeClr val="lt1"/>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ph idx="1" type="body"/>
          </p:nvPr>
        </p:nvSpPr>
        <p:spPr>
          <a:xfrm>
            <a:off x="385325" y="4032325"/>
            <a:ext cx="5998800" cy="598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CN"/>
              <a:t>decision tree result</a:t>
            </a:r>
            <a:endParaRPr/>
          </a:p>
        </p:txBody>
      </p:sp>
      <p:pic>
        <p:nvPicPr>
          <p:cNvPr id="138" name="Google Shape;138;p25"/>
          <p:cNvPicPr preferRelativeResize="0"/>
          <p:nvPr/>
        </p:nvPicPr>
        <p:blipFill>
          <a:blip r:embed="rId3">
            <a:alphaModFix/>
          </a:blip>
          <a:stretch>
            <a:fillRect/>
          </a:stretch>
        </p:blipFill>
        <p:spPr>
          <a:xfrm>
            <a:off x="671326" y="211700"/>
            <a:ext cx="7801350" cy="3931599"/>
          </a:xfrm>
          <a:prstGeom prst="rect">
            <a:avLst/>
          </a:prstGeom>
          <a:noFill/>
          <a:ln>
            <a:noFill/>
          </a:ln>
        </p:spPr>
      </p:pic>
      <p:pic>
        <p:nvPicPr>
          <p:cNvPr id="139" name="Google Shape;139;p25"/>
          <p:cNvPicPr preferRelativeResize="0"/>
          <p:nvPr/>
        </p:nvPicPr>
        <p:blipFill>
          <a:blip r:embed="rId4">
            <a:alphaModFix/>
          </a:blip>
          <a:stretch>
            <a:fillRect/>
          </a:stretch>
        </p:blipFill>
        <p:spPr>
          <a:xfrm>
            <a:off x="3211700" y="4103125"/>
            <a:ext cx="5734050" cy="457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Confusion matrix</a:t>
            </a:r>
            <a:endParaRPr/>
          </a:p>
        </p:txBody>
      </p:sp>
      <p:pic>
        <p:nvPicPr>
          <p:cNvPr id="145" name="Google Shape;145;p26"/>
          <p:cNvPicPr preferRelativeResize="0"/>
          <p:nvPr/>
        </p:nvPicPr>
        <p:blipFill>
          <a:blip r:embed="rId3">
            <a:alphaModFix/>
          </a:blip>
          <a:stretch>
            <a:fillRect/>
          </a:stretch>
        </p:blipFill>
        <p:spPr>
          <a:xfrm>
            <a:off x="311700" y="1223424"/>
            <a:ext cx="3824999" cy="3241250"/>
          </a:xfrm>
          <a:prstGeom prst="rect">
            <a:avLst/>
          </a:prstGeom>
          <a:noFill/>
          <a:ln>
            <a:noFill/>
          </a:ln>
        </p:spPr>
      </p:pic>
      <p:sp>
        <p:nvSpPr>
          <p:cNvPr id="146" name="Google Shape;146;p26"/>
          <p:cNvSpPr txBox="1"/>
          <p:nvPr/>
        </p:nvSpPr>
        <p:spPr>
          <a:xfrm>
            <a:off x="4913625" y="1383325"/>
            <a:ext cx="3538500" cy="3241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zh-CN" sz="1200"/>
              <a:t>The model performs well overall, with high accuracy and specificity, making it reliable for identifying rejected loans.</a:t>
            </a:r>
            <a:endParaRPr sz="1200"/>
          </a:p>
          <a:p>
            <a:pPr indent="0" lvl="0" marL="0" marR="0" rtl="0" algn="l">
              <a:lnSpc>
                <a:spcPct val="100000"/>
              </a:lnSpc>
              <a:spcBef>
                <a:spcPts val="0"/>
              </a:spcBef>
              <a:spcAft>
                <a:spcPts val="0"/>
              </a:spcAft>
              <a:buNone/>
            </a:pPr>
            <a:r>
              <a:t/>
            </a:r>
            <a:endParaRPr sz="1200"/>
          </a:p>
          <a:p>
            <a:pPr indent="0" lvl="0" marL="0" marR="0" rtl="0" algn="l">
              <a:lnSpc>
                <a:spcPct val="100000"/>
              </a:lnSpc>
              <a:spcBef>
                <a:spcPts val="0"/>
              </a:spcBef>
              <a:spcAft>
                <a:spcPts val="0"/>
              </a:spcAft>
              <a:buNone/>
            </a:pPr>
            <a:r>
              <a:rPr lang="zh-CN" sz="1200"/>
              <a:t>Precision is strong, meaning most predicted approvals are correct.</a:t>
            </a:r>
            <a:endParaRPr sz="1200"/>
          </a:p>
          <a:p>
            <a:pPr indent="0" lvl="0" marL="0" marR="0" rtl="0" algn="l">
              <a:lnSpc>
                <a:spcPct val="100000"/>
              </a:lnSpc>
              <a:spcBef>
                <a:spcPts val="0"/>
              </a:spcBef>
              <a:spcAft>
                <a:spcPts val="0"/>
              </a:spcAft>
              <a:buNone/>
            </a:pPr>
            <a:r>
              <a:t/>
            </a:r>
            <a:endParaRPr sz="1200"/>
          </a:p>
          <a:p>
            <a:pPr indent="0" lvl="0" marL="0" marR="0" rtl="0" algn="l">
              <a:lnSpc>
                <a:spcPct val="100000"/>
              </a:lnSpc>
              <a:spcBef>
                <a:spcPts val="0"/>
              </a:spcBef>
              <a:spcAft>
                <a:spcPts val="0"/>
              </a:spcAft>
              <a:buNone/>
            </a:pPr>
            <a:r>
              <a:rPr lang="zh-CN" sz="1200"/>
              <a:t>Recall for approvals is moderate (68.7%), indicating some eligible applicants are missed.</a:t>
            </a:r>
            <a:endParaRPr sz="1200"/>
          </a:p>
          <a:p>
            <a:pPr indent="0" lvl="0" marL="0" marR="0" rtl="0" algn="l">
              <a:lnSpc>
                <a:spcPct val="100000"/>
              </a:lnSpc>
              <a:spcBef>
                <a:spcPts val="0"/>
              </a:spcBef>
              <a:spcAft>
                <a:spcPts val="0"/>
              </a:spcAft>
              <a:buNone/>
            </a:pPr>
            <a:r>
              <a:t/>
            </a:r>
            <a:endParaRPr sz="1200"/>
          </a:p>
          <a:p>
            <a:pPr indent="0" lvl="0" marL="0" marR="0" rtl="0" algn="l">
              <a:lnSpc>
                <a:spcPct val="100000"/>
              </a:lnSpc>
              <a:spcBef>
                <a:spcPts val="0"/>
              </a:spcBef>
              <a:spcAft>
                <a:spcPts val="0"/>
              </a:spcAft>
              <a:buNone/>
            </a:pPr>
            <a:r>
              <a:rPr lang="zh-CN" sz="1200"/>
              <a:t>Improvements can focus on enhancing recall for approved cases (e.g., adjusting thresholds or rebalancing classes).</a:t>
            </a:r>
            <a:endParaRPr sz="1200"/>
          </a:p>
          <a:p>
            <a:pPr indent="0" lvl="0" marL="0" rtl="0" algn="l">
              <a:spcBef>
                <a:spcPts val="0"/>
              </a:spcBef>
              <a:spcAft>
                <a:spcPts val="0"/>
              </a:spcAft>
              <a:buNone/>
            </a:pPr>
            <a:r>
              <a:t/>
            </a:r>
            <a:endParaRPr sz="1800">
              <a:solidFill>
                <a:schemeClr val="dk2"/>
              </a:solidFill>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SHAP*</a:t>
            </a:r>
            <a:endParaRPr/>
          </a:p>
        </p:txBody>
      </p:sp>
      <p:pic>
        <p:nvPicPr>
          <p:cNvPr id="152" name="Google Shape;152;p27"/>
          <p:cNvPicPr preferRelativeResize="0"/>
          <p:nvPr/>
        </p:nvPicPr>
        <p:blipFill>
          <a:blip r:embed="rId3">
            <a:alphaModFix/>
          </a:blip>
          <a:stretch>
            <a:fillRect/>
          </a:stretch>
        </p:blipFill>
        <p:spPr>
          <a:xfrm>
            <a:off x="311700" y="1152425"/>
            <a:ext cx="2444868" cy="3686275"/>
          </a:xfrm>
          <a:prstGeom prst="rect">
            <a:avLst/>
          </a:prstGeom>
          <a:noFill/>
          <a:ln>
            <a:noFill/>
          </a:ln>
        </p:spPr>
      </p:pic>
      <p:pic>
        <p:nvPicPr>
          <p:cNvPr id="153" name="Google Shape;153;p27"/>
          <p:cNvPicPr preferRelativeResize="0"/>
          <p:nvPr/>
        </p:nvPicPr>
        <p:blipFill>
          <a:blip r:embed="rId4">
            <a:alphaModFix/>
          </a:blip>
          <a:stretch>
            <a:fillRect/>
          </a:stretch>
        </p:blipFill>
        <p:spPr>
          <a:xfrm>
            <a:off x="2756568" y="1152425"/>
            <a:ext cx="2444868" cy="3686275"/>
          </a:xfrm>
          <a:prstGeom prst="rect">
            <a:avLst/>
          </a:prstGeom>
          <a:noFill/>
          <a:ln>
            <a:noFill/>
          </a:ln>
        </p:spPr>
      </p:pic>
      <p:sp>
        <p:nvSpPr>
          <p:cNvPr id="154" name="Google Shape;154;p27"/>
          <p:cNvSpPr txBox="1"/>
          <p:nvPr/>
        </p:nvSpPr>
        <p:spPr>
          <a:xfrm>
            <a:off x="5459225" y="1229400"/>
            <a:ext cx="2895600" cy="412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zh-CN" sz="1100"/>
              <a:t>The SHAP interaction plots show how </a:t>
            </a:r>
            <a:r>
              <a:rPr lang="zh-CN" sz="1100">
                <a:solidFill>
                  <a:srgbClr val="188038"/>
                </a:solidFill>
                <a:latin typeface="Roboto Mono"/>
                <a:ea typeface="Roboto Mono"/>
                <a:cs typeface="Roboto Mono"/>
                <a:sym typeface="Roboto Mono"/>
              </a:rPr>
              <a:t>person_income</a:t>
            </a:r>
            <a:r>
              <a:rPr lang="zh-CN" sz="1100"/>
              <a:t> and </a:t>
            </a:r>
            <a:r>
              <a:rPr lang="zh-CN" sz="1100">
                <a:solidFill>
                  <a:srgbClr val="188038"/>
                </a:solidFill>
                <a:latin typeface="Roboto Mono"/>
                <a:ea typeface="Roboto Mono"/>
                <a:cs typeface="Roboto Mono"/>
                <a:sym typeface="Roboto Mono"/>
              </a:rPr>
              <a:t>person_age</a:t>
            </a:r>
            <a:r>
              <a:rPr lang="zh-CN" sz="1100"/>
              <a:t> individually and together influence the decision tree model's predictions. </a:t>
            </a:r>
            <a:endParaRPr sz="1100"/>
          </a:p>
          <a:p>
            <a:pPr indent="0" lvl="0" marL="0" marR="0" rtl="0" algn="l">
              <a:lnSpc>
                <a:spcPct val="100000"/>
              </a:lnSpc>
              <a:spcBef>
                <a:spcPts val="0"/>
              </a:spcBef>
              <a:spcAft>
                <a:spcPts val="0"/>
              </a:spcAft>
              <a:buNone/>
            </a:pPr>
            <a:r>
              <a:t/>
            </a:r>
            <a:endParaRPr sz="1100"/>
          </a:p>
          <a:p>
            <a:pPr indent="0" lvl="0" marL="0" marR="0" rtl="0" algn="l">
              <a:lnSpc>
                <a:spcPct val="100000"/>
              </a:lnSpc>
              <a:spcBef>
                <a:spcPts val="0"/>
              </a:spcBef>
              <a:spcAft>
                <a:spcPts val="0"/>
              </a:spcAft>
              <a:buNone/>
            </a:pPr>
            <a:r>
              <a:rPr lang="zh-CN" sz="1100"/>
              <a:t>Both features have significant individual impacts, with </a:t>
            </a:r>
            <a:r>
              <a:rPr lang="zh-CN" sz="1100">
                <a:solidFill>
                  <a:srgbClr val="188038"/>
                </a:solidFill>
                <a:latin typeface="Roboto Mono"/>
                <a:ea typeface="Roboto Mono"/>
                <a:cs typeface="Roboto Mono"/>
                <a:sym typeface="Roboto Mono"/>
              </a:rPr>
              <a:t>person_age</a:t>
            </a:r>
            <a:r>
              <a:rPr lang="zh-CN" sz="1100"/>
              <a:t> showing a wider effect range, while their interaction is minimal in most cases. </a:t>
            </a:r>
            <a:endParaRPr sz="1100"/>
          </a:p>
          <a:p>
            <a:pPr indent="0" lvl="0" marL="0" marR="0" rtl="0" algn="l">
              <a:lnSpc>
                <a:spcPct val="100000"/>
              </a:lnSpc>
              <a:spcBef>
                <a:spcPts val="0"/>
              </a:spcBef>
              <a:spcAft>
                <a:spcPts val="0"/>
              </a:spcAft>
              <a:buNone/>
            </a:pPr>
            <a:r>
              <a:t/>
            </a:r>
            <a:endParaRPr sz="1100"/>
          </a:p>
          <a:p>
            <a:pPr indent="0" lvl="0" marL="0" marR="0" rtl="0" algn="l">
              <a:lnSpc>
                <a:spcPct val="100000"/>
              </a:lnSpc>
              <a:spcBef>
                <a:spcPts val="0"/>
              </a:spcBef>
              <a:spcAft>
                <a:spcPts val="0"/>
              </a:spcAft>
              <a:buNone/>
            </a:pPr>
            <a:r>
              <a:rPr lang="zh-CN" sz="1100"/>
              <a:t>Outliers in the data suggest certain age-income combinations disproportionately affect predictions, highlighting specific edge cases. </a:t>
            </a:r>
            <a:endParaRPr sz="1100"/>
          </a:p>
          <a:p>
            <a:pPr indent="0" lvl="0" marL="0" marR="0" rtl="0" algn="l">
              <a:lnSpc>
                <a:spcPct val="100000"/>
              </a:lnSpc>
              <a:spcBef>
                <a:spcPts val="0"/>
              </a:spcBef>
              <a:spcAft>
                <a:spcPts val="0"/>
              </a:spcAft>
              <a:buNone/>
            </a:pPr>
            <a:r>
              <a:t/>
            </a:r>
            <a:endParaRPr sz="1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8"/>
          <p:cNvSpPr txBox="1"/>
          <p:nvPr/>
        </p:nvSpPr>
        <p:spPr>
          <a:xfrm>
            <a:off x="745175" y="1144350"/>
            <a:ext cx="3551700" cy="182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Open Sans"/>
              <a:ea typeface="Open Sans"/>
              <a:cs typeface="Open Sans"/>
              <a:sym typeface="Open Sans"/>
            </a:endParaRPr>
          </a:p>
        </p:txBody>
      </p:sp>
      <p:sp>
        <p:nvSpPr>
          <p:cNvPr id="160" name="Google Shape;160;p28"/>
          <p:cNvSpPr txBox="1"/>
          <p:nvPr>
            <p:ph type="title"/>
          </p:nvPr>
        </p:nvSpPr>
        <p:spPr>
          <a:xfrm>
            <a:off x="275175" y="1144350"/>
            <a:ext cx="4045200" cy="1675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zh-CN"/>
              <a:t>Random Forest</a:t>
            </a:r>
            <a:endParaRPr/>
          </a:p>
        </p:txBody>
      </p:sp>
      <p:sp>
        <p:nvSpPr>
          <p:cNvPr id="161" name="Google Shape;161;p28"/>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CN"/>
              <a:t>Model Overview</a:t>
            </a:r>
            <a:endParaRPr/>
          </a:p>
          <a:p>
            <a:pPr indent="0" lvl="0" marL="0" rtl="0" algn="l">
              <a:spcBef>
                <a:spcPts val="1200"/>
              </a:spcBef>
              <a:spcAft>
                <a:spcPts val="0"/>
              </a:spcAft>
              <a:buNone/>
            </a:pPr>
            <a:r>
              <a:rPr lang="zh-CN"/>
              <a:t>Accuracy train data: 92.67%</a:t>
            </a:r>
            <a:endParaRPr/>
          </a:p>
          <a:p>
            <a:pPr indent="0" lvl="0" marL="0" rtl="0" algn="l">
              <a:spcBef>
                <a:spcPts val="1200"/>
              </a:spcBef>
              <a:spcAft>
                <a:spcPts val="0"/>
              </a:spcAft>
              <a:buNone/>
            </a:pPr>
            <a:r>
              <a:rPr lang="zh-CN"/>
              <a:t>Accuracy predict: 93.09%</a:t>
            </a:r>
            <a:endParaRPr/>
          </a:p>
          <a:p>
            <a:pPr indent="0" lvl="0" marL="0" rtl="0" algn="l">
              <a:spcBef>
                <a:spcPts val="1200"/>
              </a:spcBef>
              <a:spcAft>
                <a:spcPts val="0"/>
              </a:spcAft>
              <a:buNone/>
            </a:pPr>
            <a:r>
              <a:rPr lang="zh-CN"/>
              <a:t>Precision: 91.58%</a:t>
            </a:r>
            <a:endParaRPr/>
          </a:p>
          <a:p>
            <a:pPr indent="0" lvl="0" marL="0" rtl="0" algn="l">
              <a:spcBef>
                <a:spcPts val="1200"/>
              </a:spcBef>
              <a:spcAft>
                <a:spcPts val="0"/>
              </a:spcAft>
              <a:buNone/>
            </a:pPr>
            <a:r>
              <a:rPr lang="zh-CN"/>
              <a:t>Recall: 56.15%</a:t>
            </a:r>
            <a:endParaRPr/>
          </a:p>
          <a:p>
            <a:pPr indent="0" lvl="0" marL="0" rtl="0" algn="l">
              <a:spcBef>
                <a:spcPts val="1200"/>
              </a:spcBef>
              <a:spcAft>
                <a:spcPts val="1200"/>
              </a:spcAft>
              <a:buNone/>
            </a:pPr>
            <a:r>
              <a:rPr lang="zh-CN"/>
              <a:t>F1_score: 69.62%</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29"/>
          <p:cNvPicPr preferRelativeResize="0"/>
          <p:nvPr/>
        </p:nvPicPr>
        <p:blipFill>
          <a:blip r:embed="rId3">
            <a:alphaModFix/>
          </a:blip>
          <a:stretch>
            <a:fillRect/>
          </a:stretch>
        </p:blipFill>
        <p:spPr>
          <a:xfrm>
            <a:off x="3272100" y="152400"/>
            <a:ext cx="5710211" cy="4838701"/>
          </a:xfrm>
          <a:prstGeom prst="rect">
            <a:avLst/>
          </a:prstGeom>
          <a:noFill/>
          <a:ln>
            <a:noFill/>
          </a:ln>
        </p:spPr>
      </p:pic>
      <p:sp>
        <p:nvSpPr>
          <p:cNvPr id="167" name="Google Shape;167;p29"/>
          <p:cNvSpPr txBox="1"/>
          <p:nvPr/>
        </p:nvSpPr>
        <p:spPr>
          <a:xfrm>
            <a:off x="372600" y="909675"/>
            <a:ext cx="2738700" cy="372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zh-CN" sz="1000">
                <a:solidFill>
                  <a:srgbClr val="202124"/>
                </a:solidFill>
                <a:latin typeface="Open Sans"/>
                <a:ea typeface="Open Sans"/>
                <a:cs typeface="Open Sans"/>
                <a:sym typeface="Open Sans"/>
              </a:rPr>
              <a:t>The model achieves strong performance, characterized by high accuracy and specificity, making it reliable for correctly identifying non-default cases.</a:t>
            </a:r>
            <a:endParaRPr sz="1000">
              <a:solidFill>
                <a:srgbClr val="202124"/>
              </a:solidFill>
              <a:latin typeface="Open Sans"/>
              <a:ea typeface="Open Sans"/>
              <a:cs typeface="Open Sans"/>
              <a:sym typeface="Open Sans"/>
            </a:endParaRPr>
          </a:p>
          <a:p>
            <a:pPr indent="0" lvl="0" marL="0" rtl="0" algn="l">
              <a:lnSpc>
                <a:spcPct val="115000"/>
              </a:lnSpc>
              <a:spcBef>
                <a:spcPts val="1200"/>
              </a:spcBef>
              <a:spcAft>
                <a:spcPts val="0"/>
              </a:spcAft>
              <a:buNone/>
            </a:pPr>
            <a:r>
              <a:rPr lang="zh-CN" sz="1000">
                <a:solidFill>
                  <a:srgbClr val="202124"/>
                </a:solidFill>
                <a:latin typeface="Open Sans"/>
                <a:ea typeface="Open Sans"/>
                <a:cs typeface="Open Sans"/>
                <a:sym typeface="Open Sans"/>
              </a:rPr>
              <a:t>Precision is solid, indicating that most loans predicted as defaults are indeed defaults, ensuring minimal false alarms.</a:t>
            </a:r>
            <a:endParaRPr sz="1000">
              <a:solidFill>
                <a:srgbClr val="202124"/>
              </a:solidFill>
              <a:latin typeface="Open Sans"/>
              <a:ea typeface="Open Sans"/>
              <a:cs typeface="Open Sans"/>
              <a:sym typeface="Open Sans"/>
            </a:endParaRPr>
          </a:p>
          <a:p>
            <a:pPr indent="0" lvl="0" marL="0" rtl="0" algn="l">
              <a:lnSpc>
                <a:spcPct val="115000"/>
              </a:lnSpc>
              <a:spcBef>
                <a:spcPts val="1200"/>
              </a:spcBef>
              <a:spcAft>
                <a:spcPts val="0"/>
              </a:spcAft>
              <a:buNone/>
            </a:pPr>
            <a:r>
              <a:rPr lang="zh-CN" sz="1000">
                <a:solidFill>
                  <a:srgbClr val="202124"/>
                </a:solidFill>
                <a:latin typeface="Open Sans"/>
                <a:ea typeface="Open Sans"/>
                <a:cs typeface="Open Sans"/>
                <a:sym typeface="Open Sans"/>
              </a:rPr>
              <a:t>However, the recall for defaulted loans is moderate (56.1%), suggesting that some default cases are not identified by the model.</a:t>
            </a:r>
            <a:endParaRPr sz="1000">
              <a:solidFill>
                <a:srgbClr val="202124"/>
              </a:solidFill>
              <a:latin typeface="Open Sans"/>
              <a:ea typeface="Open Sans"/>
              <a:cs typeface="Open Sans"/>
              <a:sym typeface="Open Sans"/>
            </a:endParaRPr>
          </a:p>
          <a:p>
            <a:pPr indent="0" lvl="0" marL="0" rtl="0" algn="l">
              <a:lnSpc>
                <a:spcPct val="115000"/>
              </a:lnSpc>
              <a:spcBef>
                <a:spcPts val="1200"/>
              </a:spcBef>
              <a:spcAft>
                <a:spcPts val="0"/>
              </a:spcAft>
              <a:buNone/>
            </a:pPr>
            <a:r>
              <a:rPr lang="zh-CN" sz="1000">
                <a:solidFill>
                  <a:srgbClr val="202124"/>
                </a:solidFill>
                <a:latin typeface="Open Sans"/>
                <a:ea typeface="Open Sans"/>
                <a:cs typeface="Open Sans"/>
                <a:sym typeface="Open Sans"/>
              </a:rPr>
              <a:t>Enhancements could focus on improving recall for default loans by adjusting decision thresholds, balancing the dataset, or incorporating additional predictive features.</a:t>
            </a:r>
            <a:endParaRPr sz="1000">
              <a:solidFill>
                <a:srgbClr val="202124"/>
              </a:solidFill>
              <a:latin typeface="Open Sans"/>
              <a:ea typeface="Open Sans"/>
              <a:cs typeface="Open Sans"/>
              <a:sym typeface="Open Sans"/>
            </a:endParaRPr>
          </a:p>
          <a:p>
            <a:pPr indent="0" lvl="0" marL="0" rtl="0" algn="l">
              <a:spcBef>
                <a:spcPts val="1200"/>
              </a:spcBef>
              <a:spcAft>
                <a:spcPts val="0"/>
              </a:spcAft>
              <a:buNone/>
            </a:pPr>
            <a:r>
              <a:t/>
            </a:r>
            <a:endParaRPr sz="600">
              <a:solidFill>
                <a:schemeClr val="dk2"/>
              </a:solidFill>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t/>
            </a:r>
            <a:endParaRPr/>
          </a:p>
        </p:txBody>
      </p:sp>
      <p:sp>
        <p:nvSpPr>
          <p:cNvPr id="173" name="Google Shape;173;p30"/>
          <p:cNvSpPr txBox="1"/>
          <p:nvPr>
            <p:ph idx="1" type="subTitle"/>
          </p:nvPr>
        </p:nvSpPr>
        <p:spPr>
          <a:xfrm>
            <a:off x="246150" y="1267725"/>
            <a:ext cx="2521500" cy="3521700"/>
          </a:xfrm>
          <a:prstGeom prst="rect">
            <a:avLst/>
          </a:prstGeom>
        </p:spPr>
        <p:txBody>
          <a:bodyPr anchorCtr="0" anchor="t" bIns="91425" lIns="91425" spcFirstLastPara="1" rIns="91425" wrap="square" tIns="91425">
            <a:normAutofit fontScale="92500" lnSpcReduction="10000"/>
          </a:bodyPr>
          <a:lstStyle/>
          <a:p>
            <a:pPr indent="0" lvl="0" marL="0" rtl="0" algn="l">
              <a:lnSpc>
                <a:spcPct val="115000"/>
              </a:lnSpc>
              <a:spcBef>
                <a:spcPts val="1200"/>
              </a:spcBef>
              <a:spcAft>
                <a:spcPts val="0"/>
              </a:spcAft>
              <a:buNone/>
            </a:pPr>
            <a:r>
              <a:rPr lang="zh-CN" sz="1100">
                <a:solidFill>
                  <a:srgbClr val="000000"/>
                </a:solidFill>
                <a:latin typeface="Arial"/>
                <a:ea typeface="Arial"/>
                <a:cs typeface="Arial"/>
                <a:sym typeface="Arial"/>
              </a:rPr>
              <a:t>The SHAP interaction plots illustrate how </a:t>
            </a:r>
            <a:r>
              <a:rPr b="1" lang="zh-CN" sz="1100">
                <a:solidFill>
                  <a:srgbClr val="000000"/>
                </a:solidFill>
                <a:latin typeface="Arial"/>
                <a:ea typeface="Arial"/>
                <a:cs typeface="Arial"/>
                <a:sym typeface="Arial"/>
              </a:rPr>
              <a:t>person_income</a:t>
            </a:r>
            <a:r>
              <a:rPr lang="zh-CN" sz="1100">
                <a:solidFill>
                  <a:srgbClr val="000000"/>
                </a:solidFill>
                <a:latin typeface="Arial"/>
                <a:ea typeface="Arial"/>
                <a:cs typeface="Arial"/>
                <a:sym typeface="Arial"/>
              </a:rPr>
              <a:t> and </a:t>
            </a:r>
            <a:r>
              <a:rPr b="1" lang="zh-CN" sz="1100">
                <a:solidFill>
                  <a:srgbClr val="000000"/>
                </a:solidFill>
                <a:latin typeface="Arial"/>
                <a:ea typeface="Arial"/>
                <a:cs typeface="Arial"/>
                <a:sym typeface="Arial"/>
              </a:rPr>
              <a:t>person_age</a:t>
            </a:r>
            <a:r>
              <a:rPr lang="zh-CN" sz="1100">
                <a:solidFill>
                  <a:srgbClr val="000000"/>
                </a:solidFill>
                <a:latin typeface="Arial"/>
                <a:ea typeface="Arial"/>
                <a:cs typeface="Arial"/>
                <a:sym typeface="Arial"/>
              </a:rPr>
              <a:t> independently and jointly contribute to the Random Forest model's predictions.</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b="1" lang="zh-CN" sz="1100">
                <a:solidFill>
                  <a:srgbClr val="000000"/>
                </a:solidFill>
                <a:latin typeface="Arial"/>
                <a:ea typeface="Arial"/>
                <a:cs typeface="Arial"/>
                <a:sym typeface="Arial"/>
              </a:rPr>
              <a:t>person_income</a:t>
            </a:r>
            <a:r>
              <a:rPr lang="zh-CN" sz="1100">
                <a:solidFill>
                  <a:srgbClr val="000000"/>
                </a:solidFill>
                <a:latin typeface="Arial"/>
                <a:ea typeface="Arial"/>
                <a:cs typeface="Arial"/>
                <a:sym typeface="Arial"/>
              </a:rPr>
              <a:t> has a dominant individual impact, significantly driving predictions, while </a:t>
            </a:r>
            <a:r>
              <a:rPr b="1" lang="zh-CN" sz="1100">
                <a:solidFill>
                  <a:srgbClr val="000000"/>
                </a:solidFill>
                <a:latin typeface="Arial"/>
                <a:ea typeface="Arial"/>
                <a:cs typeface="Arial"/>
                <a:sym typeface="Arial"/>
              </a:rPr>
              <a:t>person_age</a:t>
            </a:r>
            <a:r>
              <a:rPr lang="zh-CN" sz="1100">
                <a:solidFill>
                  <a:srgbClr val="000000"/>
                </a:solidFill>
                <a:latin typeface="Arial"/>
                <a:ea typeface="Arial"/>
                <a:cs typeface="Arial"/>
                <a:sym typeface="Arial"/>
              </a:rPr>
              <a:t> demonstrates a relatively smaller but consistent influence. Their interaction effect is minimal, indicating that income primarily dictates prediction outcomes.</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lang="zh-CN" sz="1100">
                <a:solidFill>
                  <a:srgbClr val="000000"/>
                </a:solidFill>
                <a:latin typeface="Arial"/>
                <a:ea typeface="Arial"/>
                <a:cs typeface="Arial"/>
                <a:sym typeface="Arial"/>
              </a:rPr>
              <a:t>Outliers in the SHAP values suggest unique combinations of age and income that deviate from typical trends, revealing potential areas for further investigation or model refinement.</a:t>
            </a:r>
            <a:endParaRPr sz="1100">
              <a:solidFill>
                <a:srgbClr val="000000"/>
              </a:solidFill>
              <a:latin typeface="Arial"/>
              <a:ea typeface="Arial"/>
              <a:cs typeface="Arial"/>
              <a:sym typeface="Arial"/>
            </a:endParaRPr>
          </a:p>
          <a:p>
            <a:pPr indent="0" lvl="0" marL="0" rtl="0" algn="ctr">
              <a:spcBef>
                <a:spcPts val="1200"/>
              </a:spcBef>
              <a:spcAft>
                <a:spcPts val="0"/>
              </a:spcAft>
              <a:buNone/>
            </a:pPr>
            <a:r>
              <a:t/>
            </a:r>
            <a:endParaRPr/>
          </a:p>
        </p:txBody>
      </p:sp>
      <p:pic>
        <p:nvPicPr>
          <p:cNvPr id="174" name="Google Shape;174;p30"/>
          <p:cNvPicPr preferRelativeResize="0"/>
          <p:nvPr/>
        </p:nvPicPr>
        <p:blipFill>
          <a:blip r:embed="rId3">
            <a:alphaModFix/>
          </a:blip>
          <a:stretch>
            <a:fillRect/>
          </a:stretch>
        </p:blipFill>
        <p:spPr>
          <a:xfrm>
            <a:off x="2830625" y="0"/>
            <a:ext cx="3179000" cy="5143500"/>
          </a:xfrm>
          <a:prstGeom prst="rect">
            <a:avLst/>
          </a:prstGeom>
          <a:noFill/>
          <a:ln>
            <a:noFill/>
          </a:ln>
        </p:spPr>
      </p:pic>
      <p:pic>
        <p:nvPicPr>
          <p:cNvPr id="175" name="Google Shape;175;p30"/>
          <p:cNvPicPr preferRelativeResize="0"/>
          <p:nvPr/>
        </p:nvPicPr>
        <p:blipFill>
          <a:blip r:embed="rId4">
            <a:alphaModFix/>
          </a:blip>
          <a:stretch>
            <a:fillRect/>
          </a:stretch>
        </p:blipFill>
        <p:spPr>
          <a:xfrm>
            <a:off x="6009625" y="0"/>
            <a:ext cx="3212874" cy="5143500"/>
          </a:xfrm>
          <a:prstGeom prst="rect">
            <a:avLst/>
          </a:prstGeom>
          <a:noFill/>
          <a:ln>
            <a:noFill/>
          </a:ln>
        </p:spPr>
      </p:pic>
      <p:sp>
        <p:nvSpPr>
          <p:cNvPr id="176" name="Google Shape;176;p30"/>
          <p:cNvSpPr txBox="1"/>
          <p:nvPr/>
        </p:nvSpPr>
        <p:spPr>
          <a:xfrm>
            <a:off x="333875" y="435475"/>
            <a:ext cx="1920900" cy="78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CN" sz="3100">
                <a:solidFill>
                  <a:schemeClr val="accent1"/>
                </a:solidFill>
                <a:latin typeface="Open Sans"/>
                <a:ea typeface="Open Sans"/>
                <a:cs typeface="Open Sans"/>
                <a:sym typeface="Open Sans"/>
              </a:rPr>
              <a:t>SHAP</a:t>
            </a:r>
            <a:endParaRPr b="1" sz="3100">
              <a:solidFill>
                <a:schemeClr val="accent1"/>
              </a:solidFill>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1"/>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zh-CN"/>
              <a:t>Neural Network</a:t>
            </a:r>
            <a:endParaRPr/>
          </a:p>
        </p:txBody>
      </p:sp>
      <p:sp>
        <p:nvSpPr>
          <p:cNvPr id="182" name="Google Shape;182;p31"/>
          <p:cNvSpPr txBox="1"/>
          <p:nvPr/>
        </p:nvSpPr>
        <p:spPr>
          <a:xfrm>
            <a:off x="2802425" y="2779950"/>
            <a:ext cx="4772100" cy="200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rgbClr val="FFFFFF"/>
                </a:solidFill>
              </a:rPr>
              <a:t>Accuracy train data: 94.32%</a:t>
            </a:r>
            <a:endParaRPr sz="1800">
              <a:solidFill>
                <a:srgbClr val="FFFFFF"/>
              </a:solidFill>
            </a:endParaRPr>
          </a:p>
          <a:p>
            <a:pPr indent="0" lvl="0" marL="0" rtl="0" algn="l">
              <a:spcBef>
                <a:spcPts val="0"/>
              </a:spcBef>
              <a:spcAft>
                <a:spcPts val="0"/>
              </a:spcAft>
              <a:buNone/>
            </a:pPr>
            <a:r>
              <a:rPr lang="zh-CN" sz="1800">
                <a:solidFill>
                  <a:srgbClr val="FFFFFF"/>
                </a:solidFill>
              </a:rPr>
              <a:t>Accuracy predict: 94.54%</a:t>
            </a:r>
            <a:endParaRPr sz="1800">
              <a:solidFill>
                <a:srgbClr val="FFFFFF"/>
              </a:solidFill>
            </a:endParaRPr>
          </a:p>
          <a:p>
            <a:pPr indent="0" lvl="0" marL="0" rtl="0" algn="l">
              <a:spcBef>
                <a:spcPts val="0"/>
              </a:spcBef>
              <a:spcAft>
                <a:spcPts val="0"/>
              </a:spcAft>
              <a:buNone/>
            </a:pPr>
            <a:r>
              <a:rPr lang="zh-CN" sz="1800">
                <a:solidFill>
                  <a:srgbClr val="FFFFFF"/>
                </a:solidFill>
              </a:rPr>
              <a:t>Precision: 90.99%</a:t>
            </a:r>
            <a:endParaRPr sz="1800">
              <a:solidFill>
                <a:srgbClr val="FFFFFF"/>
              </a:solidFill>
            </a:endParaRPr>
          </a:p>
          <a:p>
            <a:pPr indent="0" lvl="0" marL="0" rtl="0" algn="l">
              <a:spcBef>
                <a:spcPts val="0"/>
              </a:spcBef>
              <a:spcAft>
                <a:spcPts val="0"/>
              </a:spcAft>
              <a:buNone/>
            </a:pPr>
            <a:r>
              <a:rPr lang="zh-CN" sz="1800">
                <a:solidFill>
                  <a:srgbClr val="FFFFFF"/>
                </a:solidFill>
              </a:rPr>
              <a:t>Recall: 68.00%</a:t>
            </a:r>
            <a:endParaRPr sz="1800">
              <a:solidFill>
                <a:srgbClr val="FFFFFF"/>
              </a:solidFill>
            </a:endParaRPr>
          </a:p>
          <a:p>
            <a:pPr indent="0" lvl="0" marL="0" rtl="0" algn="l">
              <a:spcBef>
                <a:spcPts val="0"/>
              </a:spcBef>
              <a:spcAft>
                <a:spcPts val="0"/>
              </a:spcAft>
              <a:buNone/>
            </a:pPr>
            <a:r>
              <a:rPr lang="zh-CN" sz="1800">
                <a:solidFill>
                  <a:srgbClr val="FFFFFF"/>
                </a:solidFill>
              </a:rPr>
              <a:t>F1_score: 77.83%</a:t>
            </a:r>
            <a:endParaRPr sz="1800">
              <a:solidFill>
                <a:srgbClr val="FFFFFF"/>
              </a:solidFill>
            </a:endParaRPr>
          </a:p>
          <a:p>
            <a:pPr indent="0" lvl="0" marL="0" rtl="0" algn="l">
              <a:spcBef>
                <a:spcPts val="0"/>
              </a:spcBef>
              <a:spcAft>
                <a:spcPts val="0"/>
              </a:spcAft>
              <a:buNone/>
            </a:pPr>
            <a:r>
              <a:t/>
            </a:r>
            <a:endParaRPr sz="1800">
              <a:solidFill>
                <a:schemeClr val="dk2"/>
              </a:solidFill>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2"/>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Neural Network structure</a:t>
            </a:r>
            <a:endParaRPr/>
          </a:p>
        </p:txBody>
      </p:sp>
      <p:sp>
        <p:nvSpPr>
          <p:cNvPr id="188" name="Google Shape;188;p32"/>
          <p:cNvSpPr txBox="1"/>
          <p:nvPr>
            <p:ph idx="1" type="body"/>
          </p:nvPr>
        </p:nvSpPr>
        <p:spPr>
          <a:xfrm>
            <a:off x="311700" y="1266325"/>
            <a:ext cx="8520600" cy="34971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770"/>
              <a:buNone/>
            </a:pPr>
            <a:r>
              <a:rPr b="1" lang="zh-CN" sz="1200">
                <a:solidFill>
                  <a:srgbClr val="000000"/>
                </a:solidFill>
                <a:latin typeface="Arial"/>
                <a:ea typeface="Arial"/>
                <a:cs typeface="Arial"/>
                <a:sym typeface="Arial"/>
              </a:rPr>
              <a:t>Input Layer</a:t>
            </a:r>
            <a:r>
              <a:rPr lang="zh-C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a:p>
            <a:pPr indent="-304800" lvl="0" marL="457200" rtl="0" algn="l">
              <a:lnSpc>
                <a:spcPct val="95000"/>
              </a:lnSpc>
              <a:spcBef>
                <a:spcPts val="1200"/>
              </a:spcBef>
              <a:spcAft>
                <a:spcPts val="0"/>
              </a:spcAft>
              <a:buClr>
                <a:srgbClr val="000000"/>
              </a:buClr>
              <a:buSzPts val="1200"/>
              <a:buFont typeface="Arial"/>
              <a:buChar char="●"/>
            </a:pPr>
            <a:r>
              <a:rPr lang="zh-CN" sz="1200">
                <a:solidFill>
                  <a:srgbClr val="000000"/>
                </a:solidFill>
                <a:latin typeface="Arial"/>
                <a:ea typeface="Arial"/>
                <a:cs typeface="Arial"/>
                <a:sym typeface="Arial"/>
              </a:rPr>
              <a:t>Accepts input of dimension </a:t>
            </a:r>
            <a:r>
              <a:rPr lang="zh-CN" sz="1200">
                <a:solidFill>
                  <a:srgbClr val="188038"/>
                </a:solidFill>
                <a:latin typeface="Arial"/>
                <a:ea typeface="Arial"/>
                <a:cs typeface="Arial"/>
                <a:sym typeface="Arial"/>
              </a:rPr>
              <a:t>X_train.shape[1]</a:t>
            </a:r>
            <a:r>
              <a:rPr lang="zh-C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a:p>
            <a:pPr indent="0" lvl="0" marL="0" rtl="0" algn="l">
              <a:lnSpc>
                <a:spcPct val="95000"/>
              </a:lnSpc>
              <a:spcBef>
                <a:spcPts val="1200"/>
              </a:spcBef>
              <a:spcAft>
                <a:spcPts val="0"/>
              </a:spcAft>
              <a:buSzPts val="770"/>
              <a:buNone/>
            </a:pPr>
            <a:r>
              <a:rPr b="1" lang="zh-CN" sz="1200">
                <a:solidFill>
                  <a:srgbClr val="000000"/>
                </a:solidFill>
                <a:latin typeface="Arial"/>
                <a:ea typeface="Arial"/>
                <a:cs typeface="Arial"/>
                <a:sym typeface="Arial"/>
              </a:rPr>
              <a:t>Hidden Layers</a:t>
            </a:r>
            <a:r>
              <a:rPr lang="zh-C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a:p>
            <a:pPr indent="-304800" lvl="0" marL="457200" rtl="0" algn="l">
              <a:lnSpc>
                <a:spcPct val="95000"/>
              </a:lnSpc>
              <a:spcBef>
                <a:spcPts val="1200"/>
              </a:spcBef>
              <a:spcAft>
                <a:spcPts val="0"/>
              </a:spcAft>
              <a:buClr>
                <a:srgbClr val="000000"/>
              </a:buClr>
              <a:buSzPts val="1200"/>
              <a:buFont typeface="Arial"/>
              <a:buChar char="●"/>
            </a:pPr>
            <a:r>
              <a:rPr lang="zh-CN" sz="1200">
                <a:solidFill>
                  <a:srgbClr val="000000"/>
                </a:solidFill>
                <a:latin typeface="Arial"/>
                <a:ea typeface="Arial"/>
                <a:cs typeface="Arial"/>
                <a:sym typeface="Arial"/>
              </a:rPr>
              <a:t>Dense layers with decreasing units (128, 64, 32) for hierarchical feature extraction.</a:t>
            </a:r>
            <a:endParaRPr sz="1200">
              <a:solidFill>
                <a:srgbClr val="000000"/>
              </a:solidFill>
              <a:latin typeface="Arial"/>
              <a:ea typeface="Arial"/>
              <a:cs typeface="Arial"/>
              <a:sym typeface="Arial"/>
            </a:endParaRPr>
          </a:p>
          <a:p>
            <a:pPr indent="-304800" lvl="0" marL="457200" rtl="0" algn="l">
              <a:lnSpc>
                <a:spcPct val="95000"/>
              </a:lnSpc>
              <a:spcBef>
                <a:spcPts val="0"/>
              </a:spcBef>
              <a:spcAft>
                <a:spcPts val="0"/>
              </a:spcAft>
              <a:buClr>
                <a:srgbClr val="000000"/>
              </a:buClr>
              <a:buSzPts val="1200"/>
              <a:buFont typeface="Arial"/>
              <a:buChar char="●"/>
            </a:pPr>
            <a:r>
              <a:rPr lang="zh-CN" sz="1200">
                <a:solidFill>
                  <a:srgbClr val="188038"/>
                </a:solidFill>
                <a:latin typeface="Arial"/>
                <a:ea typeface="Arial"/>
                <a:cs typeface="Arial"/>
                <a:sym typeface="Arial"/>
              </a:rPr>
              <a:t>ReLU</a:t>
            </a:r>
            <a:r>
              <a:rPr lang="zh-CN" sz="1200">
                <a:solidFill>
                  <a:srgbClr val="000000"/>
                </a:solidFill>
                <a:latin typeface="Arial"/>
                <a:ea typeface="Arial"/>
                <a:cs typeface="Arial"/>
                <a:sym typeface="Arial"/>
              </a:rPr>
              <a:t> activation for non-linearity.</a:t>
            </a:r>
            <a:endParaRPr sz="1200">
              <a:solidFill>
                <a:srgbClr val="000000"/>
              </a:solidFill>
              <a:latin typeface="Arial"/>
              <a:ea typeface="Arial"/>
              <a:cs typeface="Arial"/>
              <a:sym typeface="Arial"/>
            </a:endParaRPr>
          </a:p>
          <a:p>
            <a:pPr indent="-304800" lvl="0" marL="457200" rtl="0" algn="l">
              <a:lnSpc>
                <a:spcPct val="95000"/>
              </a:lnSpc>
              <a:spcBef>
                <a:spcPts val="0"/>
              </a:spcBef>
              <a:spcAft>
                <a:spcPts val="0"/>
              </a:spcAft>
              <a:buClr>
                <a:srgbClr val="000000"/>
              </a:buClr>
              <a:buSzPts val="1200"/>
              <a:buFont typeface="Arial"/>
              <a:buChar char="●"/>
            </a:pPr>
            <a:r>
              <a:rPr lang="zh-CN" sz="1200">
                <a:solidFill>
                  <a:srgbClr val="000000"/>
                </a:solidFill>
                <a:latin typeface="Arial"/>
                <a:ea typeface="Arial"/>
                <a:cs typeface="Arial"/>
                <a:sym typeface="Arial"/>
              </a:rPr>
              <a:t>BatchNormalization for stable learning.</a:t>
            </a:r>
            <a:endParaRPr sz="1200">
              <a:solidFill>
                <a:srgbClr val="000000"/>
              </a:solidFill>
              <a:latin typeface="Arial"/>
              <a:ea typeface="Arial"/>
              <a:cs typeface="Arial"/>
              <a:sym typeface="Arial"/>
            </a:endParaRPr>
          </a:p>
          <a:p>
            <a:pPr indent="-304800" lvl="0" marL="457200" rtl="0" algn="l">
              <a:lnSpc>
                <a:spcPct val="95000"/>
              </a:lnSpc>
              <a:spcBef>
                <a:spcPts val="0"/>
              </a:spcBef>
              <a:spcAft>
                <a:spcPts val="0"/>
              </a:spcAft>
              <a:buClr>
                <a:srgbClr val="000000"/>
              </a:buClr>
              <a:buSzPts val="1200"/>
              <a:buFont typeface="Arial"/>
              <a:buChar char="●"/>
            </a:pPr>
            <a:r>
              <a:rPr lang="zh-CN" sz="1200">
                <a:solidFill>
                  <a:srgbClr val="000000"/>
                </a:solidFill>
                <a:latin typeface="Arial"/>
                <a:ea typeface="Arial"/>
                <a:cs typeface="Arial"/>
                <a:sym typeface="Arial"/>
              </a:rPr>
              <a:t>Dropout for regularization (40%).</a:t>
            </a:r>
            <a:endParaRPr sz="1200">
              <a:solidFill>
                <a:srgbClr val="000000"/>
              </a:solidFill>
              <a:latin typeface="Arial"/>
              <a:ea typeface="Arial"/>
              <a:cs typeface="Arial"/>
              <a:sym typeface="Arial"/>
            </a:endParaRPr>
          </a:p>
          <a:p>
            <a:pPr indent="0" lvl="0" marL="0" rtl="0" algn="l">
              <a:lnSpc>
                <a:spcPct val="95000"/>
              </a:lnSpc>
              <a:spcBef>
                <a:spcPts val="1200"/>
              </a:spcBef>
              <a:spcAft>
                <a:spcPts val="0"/>
              </a:spcAft>
              <a:buSzPts val="770"/>
              <a:buNone/>
            </a:pPr>
            <a:r>
              <a:rPr b="1" lang="zh-CN" sz="1200">
                <a:solidFill>
                  <a:srgbClr val="000000"/>
                </a:solidFill>
                <a:latin typeface="Arial"/>
                <a:ea typeface="Arial"/>
                <a:cs typeface="Arial"/>
                <a:sym typeface="Arial"/>
              </a:rPr>
              <a:t>Output Layer</a:t>
            </a:r>
            <a:r>
              <a:rPr lang="zh-C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a:p>
            <a:pPr indent="-304800" lvl="0" marL="457200" rtl="0" algn="l">
              <a:lnSpc>
                <a:spcPct val="95000"/>
              </a:lnSpc>
              <a:spcBef>
                <a:spcPts val="1200"/>
              </a:spcBef>
              <a:spcAft>
                <a:spcPts val="0"/>
              </a:spcAft>
              <a:buClr>
                <a:srgbClr val="000000"/>
              </a:buClr>
              <a:buSzPts val="1200"/>
              <a:buFont typeface="Arial"/>
              <a:buChar char="●"/>
            </a:pPr>
            <a:r>
              <a:rPr lang="zh-CN" sz="1200">
                <a:solidFill>
                  <a:srgbClr val="000000"/>
                </a:solidFill>
                <a:latin typeface="Arial"/>
                <a:ea typeface="Arial"/>
                <a:cs typeface="Arial"/>
                <a:sym typeface="Arial"/>
              </a:rPr>
              <a:t>Single unit with </a:t>
            </a:r>
            <a:r>
              <a:rPr lang="zh-CN" sz="1200">
                <a:solidFill>
                  <a:srgbClr val="188038"/>
                </a:solidFill>
                <a:latin typeface="Arial"/>
                <a:ea typeface="Arial"/>
                <a:cs typeface="Arial"/>
                <a:sym typeface="Arial"/>
              </a:rPr>
              <a:t>Sigmoid</a:t>
            </a:r>
            <a:r>
              <a:rPr lang="zh-CN" sz="1200">
                <a:solidFill>
                  <a:srgbClr val="000000"/>
                </a:solidFill>
                <a:latin typeface="Arial"/>
                <a:ea typeface="Arial"/>
                <a:cs typeface="Arial"/>
                <a:sym typeface="Arial"/>
              </a:rPr>
              <a:t> activation for binary classification.</a:t>
            </a:r>
            <a:endParaRPr sz="1200">
              <a:solidFill>
                <a:srgbClr val="000000"/>
              </a:solidFill>
              <a:latin typeface="Arial"/>
              <a:ea typeface="Arial"/>
              <a:cs typeface="Arial"/>
              <a:sym typeface="Arial"/>
            </a:endParaRPr>
          </a:p>
          <a:p>
            <a:pPr indent="0" lvl="0" marL="0" rtl="0" algn="l">
              <a:lnSpc>
                <a:spcPct val="95000"/>
              </a:lnSpc>
              <a:spcBef>
                <a:spcPts val="1200"/>
              </a:spcBef>
              <a:spcAft>
                <a:spcPts val="0"/>
              </a:spcAft>
              <a:buSzPts val="770"/>
              <a:buNone/>
            </a:pPr>
            <a:r>
              <a:rPr b="1" lang="zh-CN" sz="1200">
                <a:solidFill>
                  <a:srgbClr val="000000"/>
                </a:solidFill>
                <a:latin typeface="Arial"/>
                <a:ea typeface="Arial"/>
                <a:cs typeface="Arial"/>
                <a:sym typeface="Arial"/>
              </a:rPr>
              <a:t>Regularization</a:t>
            </a:r>
            <a:endParaRPr sz="1200">
              <a:solidFill>
                <a:srgbClr val="000000"/>
              </a:solidFill>
              <a:latin typeface="Arial"/>
              <a:ea typeface="Arial"/>
              <a:cs typeface="Arial"/>
              <a:sym typeface="Arial"/>
            </a:endParaRPr>
          </a:p>
          <a:p>
            <a:pPr indent="-304800" lvl="0" marL="457200" rtl="0" algn="l">
              <a:lnSpc>
                <a:spcPct val="95000"/>
              </a:lnSpc>
              <a:spcBef>
                <a:spcPts val="1200"/>
              </a:spcBef>
              <a:spcAft>
                <a:spcPts val="0"/>
              </a:spcAft>
              <a:buClr>
                <a:srgbClr val="000000"/>
              </a:buClr>
              <a:buSzPts val="1200"/>
              <a:buFont typeface="Arial"/>
              <a:buChar char="●"/>
            </a:pPr>
            <a:r>
              <a:rPr lang="zh-CN" sz="1200">
                <a:solidFill>
                  <a:srgbClr val="000000"/>
                </a:solidFill>
                <a:latin typeface="Arial"/>
                <a:ea typeface="Arial"/>
                <a:cs typeface="Arial"/>
                <a:sym typeface="Arial"/>
              </a:rPr>
              <a:t>L2 regularization (λ = 0.01) to prevent overfitting.</a:t>
            </a:r>
            <a:endParaRPr sz="1200">
              <a:latin typeface="Arial"/>
              <a:ea typeface="Arial"/>
              <a:cs typeface="Arial"/>
              <a:sym typeface="Arial"/>
            </a:endParaRPr>
          </a:p>
          <a:p>
            <a:pPr indent="0" lvl="0" marL="0" rtl="0" algn="l">
              <a:lnSpc>
                <a:spcPct val="95000"/>
              </a:lnSpc>
              <a:spcBef>
                <a:spcPts val="1200"/>
              </a:spcBef>
              <a:spcAft>
                <a:spcPts val="1200"/>
              </a:spcAft>
              <a:buSzPts val="770"/>
              <a:buNone/>
            </a:pPr>
            <a:r>
              <a:t/>
            </a:r>
            <a:endParaRPr sz="1200">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194" name="Google Shape;194;p33"/>
          <p:cNvPicPr preferRelativeResize="0"/>
          <p:nvPr/>
        </p:nvPicPr>
        <p:blipFill>
          <a:blip r:embed="rId3">
            <a:alphaModFix/>
          </a:blip>
          <a:stretch>
            <a:fillRect/>
          </a:stretch>
        </p:blipFill>
        <p:spPr>
          <a:xfrm>
            <a:off x="32000" y="318925"/>
            <a:ext cx="9080001" cy="450563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200" name="Google Shape;200;p34"/>
          <p:cNvPicPr preferRelativeResize="0"/>
          <p:nvPr/>
        </p:nvPicPr>
        <p:blipFill>
          <a:blip r:embed="rId3">
            <a:alphaModFix/>
          </a:blip>
          <a:stretch>
            <a:fillRect/>
          </a:stretch>
        </p:blipFill>
        <p:spPr>
          <a:xfrm>
            <a:off x="79388" y="342450"/>
            <a:ext cx="8985225" cy="44586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5"/>
          <p:cNvSpPr txBox="1"/>
          <p:nvPr/>
        </p:nvSpPr>
        <p:spPr>
          <a:xfrm>
            <a:off x="4849600" y="656575"/>
            <a:ext cx="4141800" cy="3939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zh-CN" sz="1200">
                <a:solidFill>
                  <a:srgbClr val="202124"/>
                </a:solidFill>
              </a:rPr>
              <a:t>The neural network model achieved an accuracy of 92.98% on the training set and 86.06% on predictions, performing well in predicting rejected loans. However, its recall rate is relatively low, indicating that the model needs improvement in identifying defaulted loans.</a:t>
            </a:r>
            <a:endParaRPr sz="1200">
              <a:solidFill>
                <a:srgbClr val="202124"/>
              </a:solidFill>
            </a:endParaRPr>
          </a:p>
          <a:p>
            <a:pPr indent="0" lvl="0" marL="0" rtl="0" algn="l">
              <a:lnSpc>
                <a:spcPct val="115000"/>
              </a:lnSpc>
              <a:spcBef>
                <a:spcPts val="1200"/>
              </a:spcBef>
              <a:spcAft>
                <a:spcPts val="0"/>
              </a:spcAft>
              <a:buNone/>
            </a:pPr>
            <a:r>
              <a:t/>
            </a:r>
            <a:endParaRPr sz="1200">
              <a:solidFill>
                <a:srgbClr val="202124"/>
              </a:solidFill>
            </a:endParaRPr>
          </a:p>
          <a:p>
            <a:pPr indent="0" lvl="0" marL="0" rtl="0" algn="l">
              <a:lnSpc>
                <a:spcPct val="115000"/>
              </a:lnSpc>
              <a:spcBef>
                <a:spcPts val="1200"/>
              </a:spcBef>
              <a:spcAft>
                <a:spcPts val="0"/>
              </a:spcAft>
              <a:buNone/>
            </a:pPr>
            <a:r>
              <a:t/>
            </a:r>
            <a:endParaRPr sz="1200">
              <a:solidFill>
                <a:srgbClr val="202124"/>
              </a:solidFill>
            </a:endParaRPr>
          </a:p>
          <a:p>
            <a:pPr indent="0" lvl="0" marL="0" rtl="0" algn="l">
              <a:lnSpc>
                <a:spcPct val="115000"/>
              </a:lnSpc>
              <a:spcBef>
                <a:spcPts val="1200"/>
              </a:spcBef>
              <a:spcAft>
                <a:spcPts val="0"/>
              </a:spcAft>
              <a:buNone/>
            </a:pPr>
            <a:r>
              <a:rPr lang="zh-CN" sz="1200">
                <a:solidFill>
                  <a:srgbClr val="202124"/>
                </a:solidFill>
              </a:rPr>
              <a:t>By adjusting the classification threshold, balancing the dataset, or adding more features, the model has the potential to improve recall and further optimize its performance.</a:t>
            </a:r>
            <a:endParaRPr sz="1200">
              <a:solidFill>
                <a:srgbClr val="202124"/>
              </a:solidFill>
            </a:endParaRPr>
          </a:p>
          <a:p>
            <a:pPr indent="0" lvl="0" marL="0" rtl="0" algn="l">
              <a:spcBef>
                <a:spcPts val="1200"/>
              </a:spcBef>
              <a:spcAft>
                <a:spcPts val="0"/>
              </a:spcAft>
              <a:buNone/>
            </a:pPr>
            <a:r>
              <a:t/>
            </a:r>
            <a:endParaRPr sz="1200">
              <a:solidFill>
                <a:srgbClr val="202124"/>
              </a:solidFill>
            </a:endParaRPr>
          </a:p>
          <a:p>
            <a:pPr indent="0" lvl="0" marL="0" rtl="0" algn="l">
              <a:spcBef>
                <a:spcPts val="0"/>
              </a:spcBef>
              <a:spcAft>
                <a:spcPts val="0"/>
              </a:spcAft>
              <a:buNone/>
            </a:pPr>
            <a:r>
              <a:t/>
            </a:r>
            <a:endParaRPr sz="1200">
              <a:solidFill>
                <a:srgbClr val="202124"/>
              </a:solidFill>
            </a:endParaRPr>
          </a:p>
          <a:p>
            <a:pPr indent="0" lvl="0" marL="0" rtl="0" algn="l">
              <a:spcBef>
                <a:spcPts val="0"/>
              </a:spcBef>
              <a:spcAft>
                <a:spcPts val="0"/>
              </a:spcAft>
              <a:buNone/>
            </a:pPr>
            <a:r>
              <a:t/>
            </a:r>
            <a:endParaRPr sz="1200">
              <a:solidFill>
                <a:srgbClr val="202124"/>
              </a:solidFill>
            </a:endParaRPr>
          </a:p>
          <a:p>
            <a:pPr indent="0" lvl="0" marL="0" rtl="0" algn="l">
              <a:spcBef>
                <a:spcPts val="0"/>
              </a:spcBef>
              <a:spcAft>
                <a:spcPts val="0"/>
              </a:spcAft>
              <a:buNone/>
            </a:pPr>
            <a:r>
              <a:t/>
            </a:r>
            <a:endParaRPr sz="1800">
              <a:solidFill>
                <a:schemeClr val="dk2"/>
              </a:solidFill>
              <a:latin typeface="Open Sans"/>
              <a:ea typeface="Open Sans"/>
              <a:cs typeface="Open Sans"/>
              <a:sym typeface="Open Sans"/>
            </a:endParaRPr>
          </a:p>
        </p:txBody>
      </p:sp>
      <p:pic>
        <p:nvPicPr>
          <p:cNvPr id="206" name="Google Shape;206;p35"/>
          <p:cNvPicPr preferRelativeResize="0"/>
          <p:nvPr/>
        </p:nvPicPr>
        <p:blipFill>
          <a:blip r:embed="rId3">
            <a:alphaModFix/>
          </a:blip>
          <a:stretch>
            <a:fillRect/>
          </a:stretch>
        </p:blipFill>
        <p:spPr>
          <a:xfrm>
            <a:off x="304800" y="684200"/>
            <a:ext cx="4544800" cy="362111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6"/>
          <p:cNvSpPr txBox="1"/>
          <p:nvPr>
            <p:ph type="title"/>
          </p:nvPr>
        </p:nvSpPr>
        <p:spPr>
          <a:xfrm>
            <a:off x="997500" y="814800"/>
            <a:ext cx="8571300" cy="942000"/>
          </a:xfrm>
          <a:prstGeom prst="rect">
            <a:avLst/>
          </a:prstGeom>
        </p:spPr>
        <p:txBody>
          <a:bodyPr anchorCtr="0" anchor="ctr" bIns="91425" lIns="91425" spcFirstLastPara="1" rIns="91425" wrap="square" tIns="91425">
            <a:noAutofit/>
          </a:bodyPr>
          <a:lstStyle/>
          <a:p>
            <a:pPr indent="457200" lvl="0" marL="0" marR="0" rtl="0" algn="l">
              <a:lnSpc>
                <a:spcPct val="150000"/>
              </a:lnSpc>
              <a:spcBef>
                <a:spcPts val="0"/>
              </a:spcBef>
              <a:spcAft>
                <a:spcPts val="0"/>
              </a:spcAft>
              <a:buNone/>
            </a:pPr>
            <a:r>
              <a:rPr lang="zh-CN" sz="5600">
                <a:latin typeface="Arial"/>
                <a:ea typeface="Arial"/>
                <a:cs typeface="Arial"/>
                <a:sym typeface="Arial"/>
              </a:rPr>
              <a:t>Gradient Boosting</a:t>
            </a:r>
            <a:endParaRPr sz="4400">
              <a:latin typeface="Georgia"/>
              <a:ea typeface="Georgia"/>
              <a:cs typeface="Georgia"/>
              <a:sym typeface="Georgia"/>
            </a:endParaRPr>
          </a:p>
        </p:txBody>
      </p:sp>
      <p:sp>
        <p:nvSpPr>
          <p:cNvPr id="212" name="Google Shape;212;p36"/>
          <p:cNvSpPr txBox="1"/>
          <p:nvPr/>
        </p:nvSpPr>
        <p:spPr>
          <a:xfrm>
            <a:off x="1751375" y="2734600"/>
            <a:ext cx="5725200" cy="146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7"/>
          <p:cNvSpPr txBox="1"/>
          <p:nvPr>
            <p:ph idx="2" type="body"/>
          </p:nvPr>
        </p:nvSpPr>
        <p:spPr>
          <a:xfrm>
            <a:off x="4939500" y="134513"/>
            <a:ext cx="3837000" cy="3695100"/>
          </a:xfrm>
          <a:prstGeom prst="rect">
            <a:avLst/>
          </a:prstGeom>
        </p:spPr>
        <p:txBody>
          <a:bodyPr anchorCtr="0" anchor="ctr" bIns="91425" lIns="91425" spcFirstLastPara="1" rIns="91425" wrap="square" tIns="91425">
            <a:normAutofit fontScale="77500" lnSpcReduction="20000"/>
          </a:bodyPr>
          <a:lstStyle/>
          <a:p>
            <a:pPr indent="0" lvl="0" marL="0" rtl="0" algn="l">
              <a:spcBef>
                <a:spcPts val="0"/>
              </a:spcBef>
              <a:spcAft>
                <a:spcPts val="0"/>
              </a:spcAft>
              <a:buNone/>
            </a:pPr>
            <a:r>
              <a:rPr b="1" lang="zh-CN" sz="1100">
                <a:latin typeface="Arial"/>
                <a:ea typeface="Arial"/>
                <a:cs typeface="Arial"/>
                <a:sym typeface="Arial"/>
              </a:rPr>
              <a:t>Accuracy</a:t>
            </a:r>
            <a:r>
              <a:rPr lang="zh-CN" sz="1100">
                <a:latin typeface="Arial"/>
                <a:ea typeface="Arial"/>
                <a:cs typeface="Arial"/>
                <a:sym typeface="Arial"/>
              </a:rPr>
              <a:t>:</a:t>
            </a:r>
            <a:endParaRPr sz="1100">
              <a:latin typeface="Arial"/>
              <a:ea typeface="Arial"/>
              <a:cs typeface="Arial"/>
              <a:sym typeface="Arial"/>
            </a:endParaRPr>
          </a:p>
          <a:p>
            <a:pPr indent="-282733" lvl="0" marL="457200" rtl="0" algn="l">
              <a:spcBef>
                <a:spcPts val="1200"/>
              </a:spcBef>
              <a:spcAft>
                <a:spcPts val="0"/>
              </a:spcAft>
              <a:buClr>
                <a:schemeClr val="lt1"/>
              </a:buClr>
              <a:buSzPct val="100000"/>
              <a:buFont typeface="Arial"/>
              <a:buChar char="●"/>
            </a:pPr>
            <a:r>
              <a:rPr b="1" lang="zh-CN" sz="1100">
                <a:latin typeface="Arial"/>
                <a:ea typeface="Arial"/>
                <a:cs typeface="Arial"/>
                <a:sym typeface="Arial"/>
              </a:rPr>
              <a:t>Train Accuracy</a:t>
            </a:r>
            <a:r>
              <a:rPr lang="zh-CN" sz="1100">
                <a:latin typeface="Arial"/>
                <a:ea typeface="Arial"/>
                <a:cs typeface="Arial"/>
                <a:sym typeface="Arial"/>
              </a:rPr>
              <a:t>: 95.82%, indicating the model fits the training data well.</a:t>
            </a:r>
            <a:endParaRPr sz="1100">
              <a:latin typeface="Arial"/>
              <a:ea typeface="Arial"/>
              <a:cs typeface="Arial"/>
              <a:sym typeface="Arial"/>
            </a:endParaRPr>
          </a:p>
          <a:p>
            <a:pPr indent="-282733" lvl="0" marL="457200" rtl="0" algn="l">
              <a:spcBef>
                <a:spcPts val="0"/>
              </a:spcBef>
              <a:spcAft>
                <a:spcPts val="0"/>
              </a:spcAft>
              <a:buClr>
                <a:schemeClr val="lt1"/>
              </a:buClr>
              <a:buSzPct val="100000"/>
              <a:buFont typeface="Arial"/>
              <a:buChar char="●"/>
            </a:pPr>
            <a:r>
              <a:rPr b="1" lang="zh-CN" sz="1100">
                <a:latin typeface="Arial"/>
                <a:ea typeface="Arial"/>
                <a:cs typeface="Arial"/>
                <a:sym typeface="Arial"/>
              </a:rPr>
              <a:t>Prediction Accuracy</a:t>
            </a:r>
            <a:r>
              <a:rPr lang="zh-CN" sz="1100">
                <a:latin typeface="Arial"/>
                <a:ea typeface="Arial"/>
                <a:cs typeface="Arial"/>
                <a:sym typeface="Arial"/>
              </a:rPr>
              <a:t>: 95.08%, demonstrating strong generalization to unseen data.</a:t>
            </a:r>
            <a:endParaRPr sz="1100">
              <a:latin typeface="Arial"/>
              <a:ea typeface="Arial"/>
              <a:cs typeface="Arial"/>
              <a:sym typeface="Arial"/>
            </a:endParaRPr>
          </a:p>
          <a:p>
            <a:pPr indent="0" lvl="0" marL="0" rtl="0" algn="l">
              <a:spcBef>
                <a:spcPts val="1200"/>
              </a:spcBef>
              <a:spcAft>
                <a:spcPts val="0"/>
              </a:spcAft>
              <a:buNone/>
            </a:pPr>
            <a:r>
              <a:rPr b="1" lang="zh-CN" sz="1100">
                <a:latin typeface="Arial"/>
                <a:ea typeface="Arial"/>
                <a:cs typeface="Arial"/>
                <a:sym typeface="Arial"/>
              </a:rPr>
              <a:t>Precision (90.72%)</a:t>
            </a:r>
            <a:r>
              <a:rPr lang="zh-CN" sz="1100">
                <a:latin typeface="Arial"/>
                <a:ea typeface="Arial"/>
                <a:cs typeface="Arial"/>
                <a:sym typeface="Arial"/>
              </a:rPr>
              <a:t>:</a:t>
            </a:r>
            <a:endParaRPr sz="1100">
              <a:latin typeface="Arial"/>
              <a:ea typeface="Arial"/>
              <a:cs typeface="Arial"/>
              <a:sym typeface="Arial"/>
            </a:endParaRPr>
          </a:p>
          <a:p>
            <a:pPr indent="-282733" lvl="0" marL="457200" rtl="0" algn="l">
              <a:spcBef>
                <a:spcPts val="1200"/>
              </a:spcBef>
              <a:spcAft>
                <a:spcPts val="0"/>
              </a:spcAft>
              <a:buClr>
                <a:schemeClr val="lt1"/>
              </a:buClr>
              <a:buSzPct val="100000"/>
              <a:buFont typeface="Arial"/>
              <a:buChar char="●"/>
            </a:pPr>
            <a:r>
              <a:rPr lang="zh-CN" sz="1100">
                <a:latin typeface="Arial"/>
                <a:ea typeface="Arial"/>
                <a:cs typeface="Arial"/>
                <a:sym typeface="Arial"/>
              </a:rPr>
              <a:t>High precision means most predicted approvals are accurate, minimizing incorrect approvals (false positives).</a:t>
            </a:r>
            <a:endParaRPr sz="1100">
              <a:latin typeface="Arial"/>
              <a:ea typeface="Arial"/>
              <a:cs typeface="Arial"/>
              <a:sym typeface="Arial"/>
            </a:endParaRPr>
          </a:p>
          <a:p>
            <a:pPr indent="0" lvl="0" marL="0" rtl="0" algn="l">
              <a:spcBef>
                <a:spcPts val="1200"/>
              </a:spcBef>
              <a:spcAft>
                <a:spcPts val="0"/>
              </a:spcAft>
              <a:buNone/>
            </a:pPr>
            <a:r>
              <a:rPr b="1" lang="zh-CN" sz="1100">
                <a:latin typeface="Arial"/>
                <a:ea typeface="Arial"/>
                <a:cs typeface="Arial"/>
                <a:sym typeface="Arial"/>
              </a:rPr>
              <a:t>Recall (72.51%)</a:t>
            </a:r>
            <a:r>
              <a:rPr lang="zh-CN" sz="1100">
                <a:latin typeface="Arial"/>
                <a:ea typeface="Arial"/>
                <a:cs typeface="Arial"/>
                <a:sym typeface="Arial"/>
              </a:rPr>
              <a:t>:</a:t>
            </a:r>
            <a:endParaRPr sz="1100">
              <a:latin typeface="Arial"/>
              <a:ea typeface="Arial"/>
              <a:cs typeface="Arial"/>
              <a:sym typeface="Arial"/>
            </a:endParaRPr>
          </a:p>
          <a:p>
            <a:pPr indent="-282733" lvl="0" marL="457200" rtl="0" algn="l">
              <a:spcBef>
                <a:spcPts val="1200"/>
              </a:spcBef>
              <a:spcAft>
                <a:spcPts val="0"/>
              </a:spcAft>
              <a:buClr>
                <a:schemeClr val="lt1"/>
              </a:buClr>
              <a:buSzPct val="100000"/>
              <a:buFont typeface="Arial"/>
              <a:buChar char="●"/>
            </a:pPr>
            <a:r>
              <a:rPr lang="zh-CN" sz="1100">
                <a:latin typeface="Arial"/>
                <a:ea typeface="Arial"/>
                <a:cs typeface="Arial"/>
                <a:sym typeface="Arial"/>
              </a:rPr>
              <a:t>Moderate recall suggests the model misses some eligible approvals, leaving room for improvement in identifying all actual positives.</a:t>
            </a:r>
            <a:endParaRPr sz="1100">
              <a:latin typeface="Arial"/>
              <a:ea typeface="Arial"/>
              <a:cs typeface="Arial"/>
              <a:sym typeface="Arial"/>
            </a:endParaRPr>
          </a:p>
          <a:p>
            <a:pPr indent="0" lvl="0" marL="0" rtl="0" algn="l">
              <a:spcBef>
                <a:spcPts val="1200"/>
              </a:spcBef>
              <a:spcAft>
                <a:spcPts val="0"/>
              </a:spcAft>
              <a:buNone/>
            </a:pPr>
            <a:r>
              <a:rPr b="1" lang="zh-CN" sz="1100">
                <a:latin typeface="Arial"/>
                <a:ea typeface="Arial"/>
                <a:cs typeface="Arial"/>
                <a:sym typeface="Arial"/>
              </a:rPr>
              <a:t>F1 Score (80.60%)</a:t>
            </a:r>
            <a:r>
              <a:rPr lang="zh-CN" sz="1100">
                <a:latin typeface="Arial"/>
                <a:ea typeface="Arial"/>
                <a:cs typeface="Arial"/>
                <a:sym typeface="Arial"/>
              </a:rPr>
              <a:t>:</a:t>
            </a:r>
            <a:endParaRPr sz="1100">
              <a:latin typeface="Arial"/>
              <a:ea typeface="Arial"/>
              <a:cs typeface="Arial"/>
              <a:sym typeface="Arial"/>
            </a:endParaRPr>
          </a:p>
          <a:p>
            <a:pPr indent="-282733" lvl="0" marL="457200" rtl="0" algn="l">
              <a:spcBef>
                <a:spcPts val="1200"/>
              </a:spcBef>
              <a:spcAft>
                <a:spcPts val="0"/>
              </a:spcAft>
              <a:buClr>
                <a:schemeClr val="lt1"/>
              </a:buClr>
              <a:buSzPct val="100000"/>
              <a:buFont typeface="Arial"/>
              <a:buChar char="●"/>
            </a:pPr>
            <a:r>
              <a:rPr lang="zh-CN" sz="1100">
                <a:latin typeface="Arial"/>
                <a:ea typeface="Arial"/>
                <a:cs typeface="Arial"/>
                <a:sym typeface="Arial"/>
              </a:rPr>
              <a:t>Balances precision and recall, reflecting good overall performance but highlighting the trade-off between capturing all approvals and ensuring correctness.</a:t>
            </a:r>
            <a:endParaRPr sz="1100">
              <a:latin typeface="Arial"/>
              <a:ea typeface="Arial"/>
              <a:cs typeface="Arial"/>
              <a:sym typeface="Arial"/>
            </a:endParaRPr>
          </a:p>
          <a:p>
            <a:pPr indent="0" lvl="0" marL="0" rtl="0" algn="l">
              <a:spcBef>
                <a:spcPts val="1200"/>
              </a:spcBef>
              <a:spcAft>
                <a:spcPts val="1200"/>
              </a:spcAft>
              <a:buNone/>
            </a:pPr>
            <a:r>
              <a:t/>
            </a:r>
            <a:endParaRPr/>
          </a:p>
        </p:txBody>
      </p:sp>
      <p:pic>
        <p:nvPicPr>
          <p:cNvPr id="218" name="Google Shape;218;p37"/>
          <p:cNvPicPr preferRelativeResize="0"/>
          <p:nvPr/>
        </p:nvPicPr>
        <p:blipFill>
          <a:blip r:embed="rId3">
            <a:alphaModFix/>
          </a:blip>
          <a:stretch>
            <a:fillRect/>
          </a:stretch>
        </p:blipFill>
        <p:spPr>
          <a:xfrm>
            <a:off x="49075" y="85625"/>
            <a:ext cx="4476025" cy="3792875"/>
          </a:xfrm>
          <a:prstGeom prst="rect">
            <a:avLst/>
          </a:prstGeom>
          <a:noFill/>
          <a:ln>
            <a:noFill/>
          </a:ln>
        </p:spPr>
      </p:pic>
      <p:pic>
        <p:nvPicPr>
          <p:cNvPr id="219" name="Google Shape;219;p37"/>
          <p:cNvPicPr preferRelativeResize="0"/>
          <p:nvPr/>
        </p:nvPicPr>
        <p:blipFill>
          <a:blip r:embed="rId4">
            <a:alphaModFix/>
          </a:blip>
          <a:stretch>
            <a:fillRect/>
          </a:stretch>
        </p:blipFill>
        <p:spPr>
          <a:xfrm>
            <a:off x="247350" y="4059950"/>
            <a:ext cx="1756750" cy="739000"/>
          </a:xfrm>
          <a:prstGeom prst="rect">
            <a:avLst/>
          </a:prstGeom>
          <a:noFill/>
          <a:ln>
            <a:noFill/>
          </a:ln>
        </p:spPr>
      </p:pic>
      <p:pic>
        <p:nvPicPr>
          <p:cNvPr id="220" name="Google Shape;220;p37"/>
          <p:cNvPicPr preferRelativeResize="0"/>
          <p:nvPr/>
        </p:nvPicPr>
        <p:blipFill>
          <a:blip r:embed="rId5">
            <a:alphaModFix/>
          </a:blip>
          <a:stretch>
            <a:fillRect/>
          </a:stretch>
        </p:blipFill>
        <p:spPr>
          <a:xfrm>
            <a:off x="247350" y="3824569"/>
            <a:ext cx="4079474" cy="235375"/>
          </a:xfrm>
          <a:prstGeom prst="rect">
            <a:avLst/>
          </a:prstGeom>
          <a:noFill/>
          <a:ln>
            <a:noFill/>
          </a:ln>
        </p:spPr>
      </p:pic>
      <p:sp>
        <p:nvSpPr>
          <p:cNvPr id="221" name="Google Shape;221;p37"/>
          <p:cNvSpPr txBox="1"/>
          <p:nvPr/>
        </p:nvSpPr>
        <p:spPr>
          <a:xfrm>
            <a:off x="5010975" y="3514075"/>
            <a:ext cx="3661200" cy="91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zh-CN" sz="1000">
                <a:solidFill>
                  <a:schemeClr val="lt1"/>
                </a:solidFill>
              </a:rPr>
              <a:t>The Gradient Boosting Decision Tree with tuned hyperparameters performs excellently overall, with a validation accuracy of 95.10%. Its strengths lie in high precision and accuracy, making it a reliable model for loan approval predictions, though further refinement could enhance recall for a more balanced performance.</a:t>
            </a:r>
            <a:endParaRPr sz="800">
              <a:solidFill>
                <a:schemeClr val="lt1"/>
              </a:solidFill>
              <a:latin typeface="Open Sans"/>
              <a:ea typeface="Open Sans"/>
              <a:cs typeface="Open Sans"/>
              <a:sym typeface="Open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8"/>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298450" lvl="0" marL="457200" rtl="0" algn="l">
              <a:spcBef>
                <a:spcPts val="1200"/>
              </a:spcBef>
              <a:spcAft>
                <a:spcPts val="0"/>
              </a:spcAft>
              <a:buClr>
                <a:schemeClr val="lt1"/>
              </a:buClr>
              <a:buSzPts val="1100"/>
              <a:buFont typeface="Arial"/>
              <a:buChar char="●"/>
            </a:pPr>
            <a:r>
              <a:rPr b="1" lang="zh-CN" sz="1100">
                <a:latin typeface="Roboto Mono"/>
                <a:ea typeface="Roboto Mono"/>
                <a:cs typeface="Roboto Mono"/>
                <a:sym typeface="Roboto Mono"/>
              </a:rPr>
              <a:t>person_income</a:t>
            </a:r>
            <a:r>
              <a:rPr lang="zh-CN" sz="1100">
                <a:latin typeface="Arial"/>
                <a:ea typeface="Arial"/>
                <a:cs typeface="Arial"/>
                <a:sym typeface="Arial"/>
              </a:rPr>
              <a:t>: High-income values (red dots) strongly decrease approval probabilities, while low-income values (blue dots) increase them.</a:t>
            </a:r>
            <a:endParaRPr sz="1100">
              <a:latin typeface="Arial"/>
              <a:ea typeface="Arial"/>
              <a:cs typeface="Arial"/>
              <a:sym typeface="Arial"/>
            </a:endParaRPr>
          </a:p>
          <a:p>
            <a:pPr indent="-298450" lvl="0" marL="457200" rtl="0" algn="l">
              <a:spcBef>
                <a:spcPts val="0"/>
              </a:spcBef>
              <a:spcAft>
                <a:spcPts val="0"/>
              </a:spcAft>
              <a:buClr>
                <a:schemeClr val="lt1"/>
              </a:buClr>
              <a:buSzPts val="1100"/>
              <a:buFont typeface="Arial"/>
              <a:buChar char="●"/>
            </a:pPr>
            <a:r>
              <a:rPr b="1" lang="zh-CN" sz="1100">
                <a:latin typeface="Roboto Mono"/>
                <a:ea typeface="Roboto Mono"/>
                <a:cs typeface="Roboto Mono"/>
                <a:sym typeface="Roboto Mono"/>
              </a:rPr>
              <a:t>loan_grade</a:t>
            </a:r>
            <a:r>
              <a:rPr lang="zh-CN" sz="1100">
                <a:latin typeface="Arial"/>
                <a:ea typeface="Arial"/>
                <a:cs typeface="Arial"/>
                <a:sym typeface="Arial"/>
              </a:rPr>
              <a:t>: Higher grades (red dots) boost approvals, while lower grades (blue dots) reduce approval likelihood.</a:t>
            </a:r>
            <a:endParaRPr sz="1100">
              <a:latin typeface="Arial"/>
              <a:ea typeface="Arial"/>
              <a:cs typeface="Arial"/>
              <a:sym typeface="Arial"/>
            </a:endParaRPr>
          </a:p>
          <a:p>
            <a:pPr indent="-298450" lvl="0" marL="457200" rtl="0" algn="l">
              <a:spcBef>
                <a:spcPts val="0"/>
              </a:spcBef>
              <a:spcAft>
                <a:spcPts val="0"/>
              </a:spcAft>
              <a:buClr>
                <a:schemeClr val="lt1"/>
              </a:buClr>
              <a:buSzPts val="1100"/>
              <a:buFont typeface="Arial"/>
              <a:buChar char="●"/>
            </a:pPr>
            <a:r>
              <a:rPr b="1" lang="zh-CN" sz="1100">
                <a:latin typeface="Roboto Mono"/>
                <a:ea typeface="Roboto Mono"/>
                <a:cs typeface="Roboto Mono"/>
                <a:sym typeface="Roboto Mono"/>
              </a:rPr>
              <a:t>person_home_ownership_code</a:t>
            </a:r>
            <a:r>
              <a:rPr lang="zh-CN" sz="1100">
                <a:latin typeface="Arial"/>
                <a:ea typeface="Arial"/>
                <a:cs typeface="Arial"/>
                <a:sym typeface="Arial"/>
              </a:rPr>
              <a:t>: Indicates that owning a home positively impacts approvals.</a:t>
            </a:r>
            <a:endParaRPr sz="1100">
              <a:latin typeface="Arial"/>
              <a:ea typeface="Arial"/>
              <a:cs typeface="Arial"/>
              <a:sym typeface="Arial"/>
            </a:endParaRPr>
          </a:p>
          <a:p>
            <a:pPr indent="-298450" lvl="0" marL="457200" rtl="0" algn="l">
              <a:spcBef>
                <a:spcPts val="0"/>
              </a:spcBef>
              <a:spcAft>
                <a:spcPts val="0"/>
              </a:spcAft>
              <a:buClr>
                <a:schemeClr val="lt1"/>
              </a:buClr>
              <a:buSzPts val="1100"/>
              <a:buFont typeface="Arial"/>
              <a:buChar char="●"/>
            </a:pPr>
            <a:r>
              <a:rPr lang="zh-CN" sz="1100">
                <a:latin typeface="Arial"/>
                <a:ea typeface="Arial"/>
                <a:cs typeface="Arial"/>
                <a:sym typeface="Arial"/>
              </a:rPr>
              <a:t>Features like </a:t>
            </a:r>
            <a:r>
              <a:rPr lang="zh-CN" sz="1100">
                <a:latin typeface="Roboto Mono"/>
                <a:ea typeface="Roboto Mono"/>
                <a:cs typeface="Roboto Mono"/>
                <a:sym typeface="Roboto Mono"/>
              </a:rPr>
              <a:t>loan_amnt</a:t>
            </a:r>
            <a:r>
              <a:rPr lang="zh-CN" sz="1100">
                <a:latin typeface="Arial"/>
                <a:ea typeface="Arial"/>
                <a:cs typeface="Arial"/>
                <a:sym typeface="Arial"/>
              </a:rPr>
              <a:t> and </a:t>
            </a:r>
            <a:r>
              <a:rPr lang="zh-CN" sz="1100">
                <a:latin typeface="Roboto Mono"/>
                <a:ea typeface="Roboto Mono"/>
                <a:cs typeface="Roboto Mono"/>
                <a:sym typeface="Roboto Mono"/>
              </a:rPr>
              <a:t>loan_intent_id</a:t>
            </a:r>
            <a:r>
              <a:rPr lang="zh-CN" sz="1100">
                <a:latin typeface="Arial"/>
                <a:ea typeface="Arial"/>
                <a:cs typeface="Arial"/>
                <a:sym typeface="Arial"/>
              </a:rPr>
              <a:t> show moderate effects, but their impact is more context-dependent.</a:t>
            </a:r>
            <a:endParaRPr sz="1100">
              <a:latin typeface="Arial"/>
              <a:ea typeface="Arial"/>
              <a:cs typeface="Arial"/>
              <a:sym typeface="Arial"/>
            </a:endParaRPr>
          </a:p>
          <a:p>
            <a:pPr indent="-298450" lvl="0" marL="457200" rtl="0" algn="l">
              <a:spcBef>
                <a:spcPts val="0"/>
              </a:spcBef>
              <a:spcAft>
                <a:spcPts val="0"/>
              </a:spcAft>
              <a:buClr>
                <a:schemeClr val="lt1"/>
              </a:buClr>
              <a:buSzPts val="1100"/>
              <a:buFont typeface="Arial"/>
              <a:buChar char="●"/>
            </a:pPr>
            <a:r>
              <a:rPr lang="zh-CN" sz="1100">
                <a:latin typeface="Arial"/>
                <a:ea typeface="Arial"/>
                <a:cs typeface="Arial"/>
                <a:sym typeface="Arial"/>
              </a:rPr>
              <a:t>Features like </a:t>
            </a:r>
            <a:r>
              <a:rPr lang="zh-CN" sz="1100">
                <a:latin typeface="Roboto Mono"/>
                <a:ea typeface="Roboto Mono"/>
                <a:cs typeface="Roboto Mono"/>
                <a:sym typeface="Roboto Mono"/>
              </a:rPr>
              <a:t>cb_person_cred_hist_length</a:t>
            </a:r>
            <a:r>
              <a:rPr lang="zh-CN" sz="1100">
                <a:latin typeface="Arial"/>
                <a:ea typeface="Arial"/>
                <a:cs typeface="Arial"/>
                <a:sym typeface="Arial"/>
              </a:rPr>
              <a:t> have negligible effects overall, as most SHAP values cluster around 0.</a:t>
            </a:r>
            <a:endParaRPr sz="1100">
              <a:latin typeface="Arial"/>
              <a:ea typeface="Arial"/>
              <a:cs typeface="Arial"/>
              <a:sym typeface="Arial"/>
            </a:endParaRPr>
          </a:p>
          <a:p>
            <a:pPr indent="0" lvl="0" marL="0" rtl="0" algn="l">
              <a:spcBef>
                <a:spcPts val="1200"/>
              </a:spcBef>
              <a:spcAft>
                <a:spcPts val="1200"/>
              </a:spcAft>
              <a:buNone/>
            </a:pPr>
            <a:r>
              <a:t/>
            </a:r>
            <a:endParaRPr sz="1100">
              <a:latin typeface="Roboto Mono"/>
              <a:ea typeface="Roboto Mono"/>
              <a:cs typeface="Roboto Mono"/>
              <a:sym typeface="Roboto Mono"/>
            </a:endParaRPr>
          </a:p>
        </p:txBody>
      </p:sp>
      <p:pic>
        <p:nvPicPr>
          <p:cNvPr id="227" name="Google Shape;227;p38"/>
          <p:cNvPicPr preferRelativeResize="0"/>
          <p:nvPr/>
        </p:nvPicPr>
        <p:blipFill>
          <a:blip r:embed="rId3">
            <a:alphaModFix/>
          </a:blip>
          <a:stretch>
            <a:fillRect/>
          </a:stretch>
        </p:blipFill>
        <p:spPr>
          <a:xfrm>
            <a:off x="157350" y="1060974"/>
            <a:ext cx="4063501" cy="262314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p39"/>
          <p:cNvPicPr preferRelativeResize="0"/>
          <p:nvPr/>
        </p:nvPicPr>
        <p:blipFill>
          <a:blip r:embed="rId3">
            <a:alphaModFix/>
          </a:blip>
          <a:stretch>
            <a:fillRect/>
          </a:stretch>
        </p:blipFill>
        <p:spPr>
          <a:xfrm>
            <a:off x="311701" y="1330950"/>
            <a:ext cx="5713900" cy="3370876"/>
          </a:xfrm>
          <a:prstGeom prst="rect">
            <a:avLst/>
          </a:prstGeom>
          <a:noFill/>
          <a:ln>
            <a:noFill/>
          </a:ln>
        </p:spPr>
      </p:pic>
      <p:sp>
        <p:nvSpPr>
          <p:cNvPr id="233" name="Google Shape;233;p3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Bar-chart</a:t>
            </a:r>
            <a:endParaRPr/>
          </a:p>
        </p:txBody>
      </p:sp>
      <p:sp>
        <p:nvSpPr>
          <p:cNvPr id="234" name="Google Shape;234;p39"/>
          <p:cNvSpPr txBox="1"/>
          <p:nvPr/>
        </p:nvSpPr>
        <p:spPr>
          <a:xfrm>
            <a:off x="6267400" y="1609725"/>
            <a:ext cx="2733600" cy="309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000">
                <a:solidFill>
                  <a:srgbClr val="188038"/>
                </a:solidFill>
                <a:latin typeface="Roboto Mono"/>
                <a:ea typeface="Roboto Mono"/>
                <a:cs typeface="Roboto Mono"/>
                <a:sym typeface="Roboto Mono"/>
              </a:rPr>
              <a:t>person_income</a:t>
            </a:r>
            <a:r>
              <a:rPr lang="zh-CN" sz="1000"/>
              <a:t> is the most influential feature, contributing the most to the model's predictions.</a:t>
            </a:r>
            <a:endParaRPr sz="1000"/>
          </a:p>
          <a:p>
            <a:pPr indent="0" lvl="0" marL="0" rtl="0" algn="l">
              <a:spcBef>
                <a:spcPts val="0"/>
              </a:spcBef>
              <a:spcAft>
                <a:spcPts val="0"/>
              </a:spcAft>
              <a:buNone/>
            </a:pPr>
            <a:r>
              <a:rPr lang="zh-CN" sz="1000">
                <a:solidFill>
                  <a:srgbClr val="188038"/>
                </a:solidFill>
                <a:latin typeface="Roboto Mono"/>
                <a:ea typeface="Roboto Mono"/>
                <a:cs typeface="Roboto Mono"/>
                <a:sym typeface="Roboto Mono"/>
              </a:rPr>
              <a:t>loan_grade</a:t>
            </a:r>
            <a:r>
              <a:rPr lang="zh-CN" sz="1000"/>
              <a:t> ranks second, heavily influencing whether loans are approved or not.</a:t>
            </a:r>
            <a:endParaRPr sz="1000"/>
          </a:p>
          <a:p>
            <a:pPr indent="0" lvl="0" marL="0" rtl="0" algn="l">
              <a:spcBef>
                <a:spcPts val="0"/>
              </a:spcBef>
              <a:spcAft>
                <a:spcPts val="0"/>
              </a:spcAft>
              <a:buNone/>
            </a:pPr>
            <a:r>
              <a:rPr lang="zh-CN" sz="1000"/>
              <a:t>Other significant features include </a:t>
            </a:r>
            <a:r>
              <a:rPr lang="zh-CN" sz="1000">
                <a:solidFill>
                  <a:srgbClr val="188038"/>
                </a:solidFill>
                <a:latin typeface="Roboto Mono"/>
                <a:ea typeface="Roboto Mono"/>
                <a:cs typeface="Roboto Mono"/>
                <a:sym typeface="Roboto Mono"/>
              </a:rPr>
              <a:t>person_home_ownership_code</a:t>
            </a:r>
            <a:r>
              <a:rPr lang="zh-CN" sz="1000"/>
              <a:t> and </a:t>
            </a:r>
            <a:r>
              <a:rPr lang="zh-CN" sz="1000">
                <a:solidFill>
                  <a:srgbClr val="188038"/>
                </a:solidFill>
                <a:latin typeface="Roboto Mono"/>
                <a:ea typeface="Roboto Mono"/>
                <a:cs typeface="Roboto Mono"/>
                <a:sym typeface="Roboto Mono"/>
              </a:rPr>
              <a:t>loan_amnt</a:t>
            </a:r>
            <a:r>
              <a:rPr lang="zh-CN" sz="1000"/>
              <a:t>.</a:t>
            </a:r>
            <a:endParaRPr sz="1000"/>
          </a:p>
          <a:p>
            <a:pPr indent="0" lvl="0" marL="0" rtl="0" algn="l">
              <a:spcBef>
                <a:spcPts val="0"/>
              </a:spcBef>
              <a:spcAft>
                <a:spcPts val="0"/>
              </a:spcAft>
              <a:buNone/>
            </a:pPr>
            <a:r>
              <a:rPr lang="zh-CN" sz="1000"/>
              <a:t>Features like </a:t>
            </a:r>
            <a:r>
              <a:rPr lang="zh-CN" sz="1000">
                <a:solidFill>
                  <a:srgbClr val="188038"/>
                </a:solidFill>
                <a:latin typeface="Roboto Mono"/>
                <a:ea typeface="Roboto Mono"/>
                <a:cs typeface="Roboto Mono"/>
                <a:sym typeface="Roboto Mono"/>
              </a:rPr>
              <a:t>cb_person_cred_hist_length</a:t>
            </a:r>
            <a:r>
              <a:rPr lang="zh-CN" sz="1000"/>
              <a:t> and </a:t>
            </a:r>
            <a:r>
              <a:rPr lang="zh-CN" sz="1000">
                <a:solidFill>
                  <a:srgbClr val="188038"/>
                </a:solidFill>
                <a:latin typeface="Roboto Mono"/>
                <a:ea typeface="Roboto Mono"/>
                <a:cs typeface="Roboto Mono"/>
                <a:sym typeface="Roboto Mono"/>
              </a:rPr>
              <a:t>cb_person_default_on_file</a:t>
            </a:r>
            <a:r>
              <a:rPr lang="zh-CN" sz="1000"/>
              <a:t> have minimal impact, suggesting they add little predictive value.</a:t>
            </a:r>
            <a:endParaRPr sz="1000"/>
          </a:p>
          <a:p>
            <a:pPr indent="0" lvl="0" marL="0" rtl="0" algn="l">
              <a:spcBef>
                <a:spcPts val="0"/>
              </a:spcBef>
              <a:spcAft>
                <a:spcPts val="0"/>
              </a:spcAft>
              <a:buNone/>
            </a:pPr>
            <a:r>
              <a:t/>
            </a:r>
            <a:endParaRPr sz="1000">
              <a:solidFill>
                <a:schemeClr val="dk2"/>
              </a:solidFill>
              <a:latin typeface="Open Sans"/>
              <a:ea typeface="Open Sans"/>
              <a:cs typeface="Open Sans"/>
              <a:sym typeface="Open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0"/>
          <p:cNvSpPr txBox="1"/>
          <p:nvPr>
            <p:ph type="title"/>
          </p:nvPr>
        </p:nvSpPr>
        <p:spPr>
          <a:xfrm>
            <a:off x="1988100" y="814800"/>
            <a:ext cx="8571300" cy="942000"/>
          </a:xfrm>
          <a:prstGeom prst="rect">
            <a:avLst/>
          </a:prstGeom>
        </p:spPr>
        <p:txBody>
          <a:bodyPr anchorCtr="0" anchor="ctr" bIns="91425" lIns="91425" spcFirstLastPara="1" rIns="91425" wrap="square" tIns="91425">
            <a:noAutofit/>
          </a:bodyPr>
          <a:lstStyle/>
          <a:p>
            <a:pPr indent="457200" lvl="0" marL="0" marR="0" rtl="0" algn="l">
              <a:lnSpc>
                <a:spcPct val="150000"/>
              </a:lnSpc>
              <a:spcBef>
                <a:spcPts val="0"/>
              </a:spcBef>
              <a:spcAft>
                <a:spcPts val="0"/>
              </a:spcAft>
              <a:buNone/>
            </a:pPr>
            <a:r>
              <a:rPr lang="zh-CN" sz="5600">
                <a:latin typeface="Arial"/>
                <a:ea typeface="Arial"/>
                <a:cs typeface="Arial"/>
                <a:sym typeface="Arial"/>
              </a:rPr>
              <a:t>XGBoosting</a:t>
            </a:r>
            <a:endParaRPr sz="4400">
              <a:latin typeface="Georgia"/>
              <a:ea typeface="Georgia"/>
              <a:cs typeface="Georgia"/>
              <a:sym typeface="Georgia"/>
            </a:endParaRPr>
          </a:p>
        </p:txBody>
      </p:sp>
      <p:sp>
        <p:nvSpPr>
          <p:cNvPr id="240" name="Google Shape;240;p40"/>
          <p:cNvSpPr txBox="1"/>
          <p:nvPr/>
        </p:nvSpPr>
        <p:spPr>
          <a:xfrm>
            <a:off x="1942375" y="3092625"/>
            <a:ext cx="5707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a:solidFill>
                  <a:schemeClr val="lt1"/>
                </a:solidFill>
              </a:rPr>
              <a:t>Enhances GBDT with advanced regularization, sparse data handling, and parallel processing for faster and more accurate models.</a:t>
            </a:r>
            <a:endParaRPr>
              <a:solidFill>
                <a:schemeClr val="l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1"/>
          <p:cNvSpPr txBox="1"/>
          <p:nvPr>
            <p:ph idx="2" type="body"/>
          </p:nvPr>
        </p:nvSpPr>
        <p:spPr>
          <a:xfrm>
            <a:off x="4939500" y="621125"/>
            <a:ext cx="3837000" cy="2284500"/>
          </a:xfrm>
          <a:prstGeom prst="rect">
            <a:avLst/>
          </a:prstGeom>
        </p:spPr>
        <p:txBody>
          <a:bodyPr anchorCtr="0" anchor="ctr" bIns="91425" lIns="91425" spcFirstLastPara="1" rIns="91425" wrap="square" tIns="91425">
            <a:normAutofit/>
          </a:bodyPr>
          <a:lstStyle/>
          <a:p>
            <a:pPr indent="-298450" lvl="0" marL="457200" marR="0" rtl="0" algn="l">
              <a:lnSpc>
                <a:spcPct val="115000"/>
              </a:lnSpc>
              <a:spcBef>
                <a:spcPts val="1200"/>
              </a:spcBef>
              <a:spcAft>
                <a:spcPts val="0"/>
              </a:spcAft>
              <a:buClr>
                <a:schemeClr val="lt1"/>
              </a:buClr>
              <a:buSzPts val="1100"/>
              <a:buFont typeface="Arial"/>
              <a:buChar char="●"/>
            </a:pPr>
            <a:r>
              <a:rPr lang="zh-CN" sz="1100">
                <a:latin typeface="Arial"/>
                <a:ea typeface="Arial"/>
                <a:cs typeface="Arial"/>
                <a:sym typeface="Arial"/>
              </a:rPr>
              <a:t>The XGBoost model excels in accuracy and precision, making it highly reliable for predicting approved loans.</a:t>
            </a:r>
            <a:endParaRPr sz="1100">
              <a:latin typeface="Arial"/>
              <a:ea typeface="Arial"/>
              <a:cs typeface="Arial"/>
              <a:sym typeface="Arial"/>
            </a:endParaRPr>
          </a:p>
          <a:p>
            <a:pPr indent="-298450" lvl="0" marL="457200" marR="0" rtl="0" algn="l">
              <a:lnSpc>
                <a:spcPct val="115000"/>
              </a:lnSpc>
              <a:spcBef>
                <a:spcPts val="0"/>
              </a:spcBef>
              <a:spcAft>
                <a:spcPts val="0"/>
              </a:spcAft>
              <a:buClr>
                <a:schemeClr val="lt1"/>
              </a:buClr>
              <a:buSzPts val="1100"/>
              <a:buFont typeface="Arial"/>
              <a:buChar char="●"/>
            </a:pPr>
            <a:r>
              <a:rPr lang="zh-CN" sz="1100">
                <a:latin typeface="Arial"/>
                <a:ea typeface="Arial"/>
                <a:cs typeface="Arial"/>
                <a:sym typeface="Arial"/>
              </a:rPr>
              <a:t>Recall (72.19%) remains moderate, suggesting that further focus on capturing all approved loans could enhance the model.</a:t>
            </a:r>
            <a:endParaRPr sz="1100">
              <a:latin typeface="Arial"/>
              <a:ea typeface="Arial"/>
              <a:cs typeface="Arial"/>
              <a:sym typeface="Arial"/>
            </a:endParaRPr>
          </a:p>
          <a:p>
            <a:pPr indent="-298450" lvl="0" marL="457200" marR="0" rtl="0" algn="l">
              <a:lnSpc>
                <a:spcPct val="115000"/>
              </a:lnSpc>
              <a:spcBef>
                <a:spcPts val="0"/>
              </a:spcBef>
              <a:spcAft>
                <a:spcPts val="0"/>
              </a:spcAft>
              <a:buClr>
                <a:schemeClr val="lt1"/>
              </a:buClr>
              <a:buSzPts val="1100"/>
              <a:buFont typeface="Arial"/>
              <a:buChar char="●"/>
            </a:pPr>
            <a:r>
              <a:rPr lang="zh-CN" sz="1100">
                <a:latin typeface="Arial"/>
                <a:ea typeface="Arial"/>
                <a:cs typeface="Arial"/>
                <a:sym typeface="Arial"/>
              </a:rPr>
              <a:t>The model strikes a balance between precision and recall, as shown by its F1 Score (80.30%).</a:t>
            </a:r>
            <a:endParaRPr sz="1100">
              <a:latin typeface="Arial"/>
              <a:ea typeface="Arial"/>
              <a:cs typeface="Arial"/>
              <a:sym typeface="Arial"/>
            </a:endParaRPr>
          </a:p>
        </p:txBody>
      </p:sp>
      <p:pic>
        <p:nvPicPr>
          <p:cNvPr id="246" name="Google Shape;246;p41"/>
          <p:cNvPicPr preferRelativeResize="0"/>
          <p:nvPr/>
        </p:nvPicPr>
        <p:blipFill>
          <a:blip r:embed="rId3">
            <a:alphaModFix/>
          </a:blip>
          <a:stretch>
            <a:fillRect/>
          </a:stretch>
        </p:blipFill>
        <p:spPr>
          <a:xfrm>
            <a:off x="160175" y="97175"/>
            <a:ext cx="4252450" cy="3603400"/>
          </a:xfrm>
          <a:prstGeom prst="rect">
            <a:avLst/>
          </a:prstGeom>
          <a:noFill/>
          <a:ln>
            <a:noFill/>
          </a:ln>
        </p:spPr>
      </p:pic>
      <p:pic>
        <p:nvPicPr>
          <p:cNvPr id="247" name="Google Shape;247;p41"/>
          <p:cNvPicPr preferRelativeResize="0"/>
          <p:nvPr/>
        </p:nvPicPr>
        <p:blipFill>
          <a:blip r:embed="rId4">
            <a:alphaModFix/>
          </a:blip>
          <a:stretch>
            <a:fillRect/>
          </a:stretch>
        </p:blipFill>
        <p:spPr>
          <a:xfrm>
            <a:off x="293275" y="3982775"/>
            <a:ext cx="2615675" cy="863050"/>
          </a:xfrm>
          <a:prstGeom prst="rect">
            <a:avLst/>
          </a:prstGeom>
          <a:noFill/>
          <a:ln>
            <a:noFill/>
          </a:ln>
        </p:spPr>
      </p:pic>
      <p:pic>
        <p:nvPicPr>
          <p:cNvPr id="248" name="Google Shape;248;p41"/>
          <p:cNvPicPr preferRelativeResize="0"/>
          <p:nvPr/>
        </p:nvPicPr>
        <p:blipFill>
          <a:blip r:embed="rId5">
            <a:alphaModFix/>
          </a:blip>
          <a:stretch>
            <a:fillRect/>
          </a:stretch>
        </p:blipFill>
        <p:spPr>
          <a:xfrm>
            <a:off x="293275" y="3700563"/>
            <a:ext cx="3986252" cy="282213"/>
          </a:xfrm>
          <a:prstGeom prst="rect">
            <a:avLst/>
          </a:prstGeom>
          <a:noFill/>
          <a:ln>
            <a:noFill/>
          </a:ln>
        </p:spPr>
      </p:pic>
      <p:sp>
        <p:nvSpPr>
          <p:cNvPr id="249" name="Google Shape;249;p41"/>
          <p:cNvSpPr txBox="1"/>
          <p:nvPr/>
        </p:nvSpPr>
        <p:spPr>
          <a:xfrm>
            <a:off x="5088750" y="2876000"/>
            <a:ext cx="3538500" cy="12558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1200"/>
              </a:spcAft>
              <a:buNone/>
            </a:pPr>
            <a:r>
              <a:rPr lang="zh-CN" sz="1000">
                <a:solidFill>
                  <a:schemeClr val="lt1"/>
                </a:solidFill>
              </a:rPr>
              <a:t>The XGBoost model, with optimized parameters, delivers strong accuracy (95.00%) and precision (90.45%), ensuring high confidence in predictions. Its robust performance on validation data highlights generalizability, though moderate recall suggests room for improvement in capturing all eligible approvals.</a:t>
            </a:r>
            <a:endParaRPr sz="1000">
              <a:solidFill>
                <a:schemeClr val="lt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pic>
        <p:nvPicPr>
          <p:cNvPr id="254" name="Google Shape;254;p42"/>
          <p:cNvPicPr preferRelativeResize="0"/>
          <p:nvPr/>
        </p:nvPicPr>
        <p:blipFill>
          <a:blip r:embed="rId3">
            <a:alphaModFix/>
          </a:blip>
          <a:stretch>
            <a:fillRect/>
          </a:stretch>
        </p:blipFill>
        <p:spPr>
          <a:xfrm>
            <a:off x="127875" y="1160550"/>
            <a:ext cx="4372175" cy="2822400"/>
          </a:xfrm>
          <a:prstGeom prst="rect">
            <a:avLst/>
          </a:prstGeom>
          <a:noFill/>
          <a:ln>
            <a:noFill/>
          </a:ln>
        </p:spPr>
      </p:pic>
      <p:sp>
        <p:nvSpPr>
          <p:cNvPr id="255" name="Google Shape;255;p42"/>
          <p:cNvSpPr txBox="1"/>
          <p:nvPr/>
        </p:nvSpPr>
        <p:spPr>
          <a:xfrm>
            <a:off x="4917725" y="716550"/>
            <a:ext cx="3833100" cy="3533700"/>
          </a:xfrm>
          <a:prstGeom prst="rect">
            <a:avLst/>
          </a:prstGeom>
          <a:noFill/>
          <a:ln>
            <a:noFill/>
          </a:ln>
        </p:spPr>
        <p:txBody>
          <a:bodyPr anchorCtr="0" anchor="t" bIns="91425" lIns="91425" spcFirstLastPara="1" rIns="91425" wrap="square" tIns="91425">
            <a:noAutofit/>
          </a:bodyPr>
          <a:lstStyle/>
          <a:p>
            <a:pPr indent="-292100" lvl="0" marL="457200" rtl="0" algn="l">
              <a:lnSpc>
                <a:spcPct val="115000"/>
              </a:lnSpc>
              <a:spcBef>
                <a:spcPts val="1200"/>
              </a:spcBef>
              <a:spcAft>
                <a:spcPts val="0"/>
              </a:spcAft>
              <a:buClr>
                <a:schemeClr val="lt1"/>
              </a:buClr>
              <a:buSzPts val="1000"/>
              <a:buChar char="●"/>
            </a:pPr>
            <a:r>
              <a:rPr b="1" lang="zh-CN" sz="1000">
                <a:solidFill>
                  <a:schemeClr val="lt1"/>
                </a:solidFill>
                <a:latin typeface="Roboto Mono"/>
                <a:ea typeface="Roboto Mono"/>
                <a:cs typeface="Roboto Mono"/>
                <a:sym typeface="Roboto Mono"/>
              </a:rPr>
              <a:t>person_income</a:t>
            </a:r>
            <a:r>
              <a:rPr lang="zh-CN" sz="1000">
                <a:solidFill>
                  <a:schemeClr val="lt1"/>
                </a:solidFill>
              </a:rPr>
              <a:t>:</a:t>
            </a:r>
            <a:endParaRPr sz="1000">
              <a:solidFill>
                <a:schemeClr val="lt1"/>
              </a:solidFill>
            </a:endParaRPr>
          </a:p>
          <a:p>
            <a:pPr indent="-292100" lvl="1" marL="914400" rtl="0" algn="l">
              <a:lnSpc>
                <a:spcPct val="115000"/>
              </a:lnSpc>
              <a:spcBef>
                <a:spcPts val="0"/>
              </a:spcBef>
              <a:spcAft>
                <a:spcPts val="0"/>
              </a:spcAft>
              <a:buClr>
                <a:schemeClr val="lt1"/>
              </a:buClr>
              <a:buSzPts val="1000"/>
              <a:buChar char="○"/>
            </a:pPr>
            <a:r>
              <a:rPr lang="zh-CN" sz="1000">
                <a:solidFill>
                  <a:schemeClr val="lt1"/>
                </a:solidFill>
              </a:rPr>
              <a:t>High income (red dots) strongly decreases loan approval likelihood.</a:t>
            </a:r>
            <a:endParaRPr sz="1000">
              <a:solidFill>
                <a:schemeClr val="lt1"/>
              </a:solidFill>
            </a:endParaRPr>
          </a:p>
          <a:p>
            <a:pPr indent="-292100" lvl="1" marL="914400" rtl="0" algn="l">
              <a:lnSpc>
                <a:spcPct val="115000"/>
              </a:lnSpc>
              <a:spcBef>
                <a:spcPts val="0"/>
              </a:spcBef>
              <a:spcAft>
                <a:spcPts val="0"/>
              </a:spcAft>
              <a:buClr>
                <a:schemeClr val="lt1"/>
              </a:buClr>
              <a:buSzPts val="1000"/>
              <a:buChar char="○"/>
            </a:pPr>
            <a:r>
              <a:rPr lang="zh-CN" sz="1000">
                <a:solidFill>
                  <a:schemeClr val="lt1"/>
                </a:solidFill>
              </a:rPr>
              <a:t>Low income (blue dots) increases approval probability.</a:t>
            </a:r>
            <a:endParaRPr sz="1000">
              <a:solidFill>
                <a:schemeClr val="lt1"/>
              </a:solidFill>
            </a:endParaRPr>
          </a:p>
          <a:p>
            <a:pPr indent="-292100" lvl="0" marL="457200" rtl="0" algn="l">
              <a:lnSpc>
                <a:spcPct val="115000"/>
              </a:lnSpc>
              <a:spcBef>
                <a:spcPts val="0"/>
              </a:spcBef>
              <a:spcAft>
                <a:spcPts val="0"/>
              </a:spcAft>
              <a:buClr>
                <a:schemeClr val="lt1"/>
              </a:buClr>
              <a:buSzPts val="1000"/>
              <a:buChar char="●"/>
            </a:pPr>
            <a:r>
              <a:rPr b="1" lang="zh-CN" sz="1000">
                <a:solidFill>
                  <a:schemeClr val="lt1"/>
                </a:solidFill>
                <a:latin typeface="Roboto Mono"/>
                <a:ea typeface="Roboto Mono"/>
                <a:cs typeface="Roboto Mono"/>
                <a:sym typeface="Roboto Mono"/>
              </a:rPr>
              <a:t>loan_grade</a:t>
            </a:r>
            <a:r>
              <a:rPr lang="zh-CN" sz="1000">
                <a:solidFill>
                  <a:schemeClr val="lt1"/>
                </a:solidFill>
              </a:rPr>
              <a:t>:</a:t>
            </a:r>
            <a:endParaRPr sz="1000">
              <a:solidFill>
                <a:schemeClr val="lt1"/>
              </a:solidFill>
            </a:endParaRPr>
          </a:p>
          <a:p>
            <a:pPr indent="-292100" lvl="1" marL="914400" rtl="0" algn="l">
              <a:lnSpc>
                <a:spcPct val="115000"/>
              </a:lnSpc>
              <a:spcBef>
                <a:spcPts val="0"/>
              </a:spcBef>
              <a:spcAft>
                <a:spcPts val="0"/>
              </a:spcAft>
              <a:buClr>
                <a:schemeClr val="lt1"/>
              </a:buClr>
              <a:buSzPts val="1000"/>
              <a:buChar char="○"/>
            </a:pPr>
            <a:r>
              <a:rPr lang="zh-CN" sz="1000">
                <a:solidFill>
                  <a:schemeClr val="lt1"/>
                </a:solidFill>
              </a:rPr>
              <a:t>Higher grades (red) significantly boost approval chances.</a:t>
            </a:r>
            <a:endParaRPr sz="1000">
              <a:solidFill>
                <a:schemeClr val="lt1"/>
              </a:solidFill>
            </a:endParaRPr>
          </a:p>
          <a:p>
            <a:pPr indent="-292100" lvl="1" marL="914400" rtl="0" algn="l">
              <a:lnSpc>
                <a:spcPct val="115000"/>
              </a:lnSpc>
              <a:spcBef>
                <a:spcPts val="0"/>
              </a:spcBef>
              <a:spcAft>
                <a:spcPts val="0"/>
              </a:spcAft>
              <a:buClr>
                <a:schemeClr val="lt1"/>
              </a:buClr>
              <a:buSzPts val="1000"/>
              <a:buChar char="○"/>
            </a:pPr>
            <a:r>
              <a:rPr lang="zh-CN" sz="1000">
                <a:solidFill>
                  <a:schemeClr val="lt1"/>
                </a:solidFill>
              </a:rPr>
              <a:t>Lower grades (blue) reduce approval likelihood.</a:t>
            </a:r>
            <a:endParaRPr sz="1000">
              <a:solidFill>
                <a:schemeClr val="lt1"/>
              </a:solidFill>
            </a:endParaRPr>
          </a:p>
          <a:p>
            <a:pPr indent="-292100" lvl="0" marL="457200" rtl="0" algn="l">
              <a:lnSpc>
                <a:spcPct val="115000"/>
              </a:lnSpc>
              <a:spcBef>
                <a:spcPts val="0"/>
              </a:spcBef>
              <a:spcAft>
                <a:spcPts val="0"/>
              </a:spcAft>
              <a:buClr>
                <a:schemeClr val="lt1"/>
              </a:buClr>
              <a:buSzPts val="1000"/>
              <a:buChar char="●"/>
            </a:pPr>
            <a:r>
              <a:rPr b="1" lang="zh-CN" sz="1000">
                <a:solidFill>
                  <a:schemeClr val="lt1"/>
                </a:solidFill>
                <a:latin typeface="Roboto Mono"/>
                <a:ea typeface="Roboto Mono"/>
                <a:cs typeface="Roboto Mono"/>
                <a:sym typeface="Roboto Mono"/>
              </a:rPr>
              <a:t>person_home_ownership_code</a:t>
            </a:r>
            <a:r>
              <a:rPr lang="zh-CN" sz="1000">
                <a:solidFill>
                  <a:schemeClr val="lt1"/>
                </a:solidFill>
              </a:rPr>
              <a:t>:</a:t>
            </a:r>
            <a:endParaRPr sz="1000">
              <a:solidFill>
                <a:schemeClr val="lt1"/>
              </a:solidFill>
            </a:endParaRPr>
          </a:p>
          <a:p>
            <a:pPr indent="-292100" lvl="1" marL="914400" rtl="0" algn="l">
              <a:lnSpc>
                <a:spcPct val="115000"/>
              </a:lnSpc>
              <a:spcBef>
                <a:spcPts val="0"/>
              </a:spcBef>
              <a:spcAft>
                <a:spcPts val="0"/>
              </a:spcAft>
              <a:buClr>
                <a:schemeClr val="lt1"/>
              </a:buClr>
              <a:buSzPts val="1000"/>
              <a:buChar char="○"/>
            </a:pPr>
            <a:r>
              <a:rPr lang="zh-CN" sz="1000">
                <a:solidFill>
                  <a:schemeClr val="lt1"/>
                </a:solidFill>
              </a:rPr>
              <a:t>Owning a home (red) positively affects loan approvals.</a:t>
            </a:r>
            <a:endParaRPr sz="1000">
              <a:solidFill>
                <a:schemeClr val="lt1"/>
              </a:solidFill>
            </a:endParaRPr>
          </a:p>
          <a:p>
            <a:pPr indent="-292100" lvl="0" marL="457200" rtl="0" algn="l">
              <a:lnSpc>
                <a:spcPct val="115000"/>
              </a:lnSpc>
              <a:spcBef>
                <a:spcPts val="0"/>
              </a:spcBef>
              <a:spcAft>
                <a:spcPts val="0"/>
              </a:spcAft>
              <a:buClr>
                <a:schemeClr val="lt1"/>
              </a:buClr>
              <a:buSzPts val="1000"/>
              <a:buChar char="●"/>
            </a:pPr>
            <a:r>
              <a:rPr b="1" lang="zh-CN" sz="1000">
                <a:solidFill>
                  <a:schemeClr val="lt1"/>
                </a:solidFill>
              </a:rPr>
              <a:t>Other Features</a:t>
            </a:r>
            <a:r>
              <a:rPr lang="zh-CN" sz="1000">
                <a:solidFill>
                  <a:schemeClr val="lt1"/>
                </a:solidFill>
              </a:rPr>
              <a:t>:</a:t>
            </a:r>
            <a:endParaRPr sz="1000">
              <a:solidFill>
                <a:schemeClr val="lt1"/>
              </a:solidFill>
            </a:endParaRPr>
          </a:p>
          <a:p>
            <a:pPr indent="-292100" lvl="1" marL="914400" rtl="0" algn="l">
              <a:lnSpc>
                <a:spcPct val="115000"/>
              </a:lnSpc>
              <a:spcBef>
                <a:spcPts val="0"/>
              </a:spcBef>
              <a:spcAft>
                <a:spcPts val="0"/>
              </a:spcAft>
              <a:buClr>
                <a:schemeClr val="lt1"/>
              </a:buClr>
              <a:buSzPts val="1000"/>
              <a:buChar char="○"/>
            </a:pPr>
            <a:r>
              <a:rPr lang="zh-CN" sz="1000">
                <a:solidFill>
                  <a:schemeClr val="lt1"/>
                </a:solidFill>
              </a:rPr>
              <a:t>Features like </a:t>
            </a:r>
            <a:r>
              <a:rPr lang="zh-CN" sz="1000">
                <a:solidFill>
                  <a:schemeClr val="lt1"/>
                </a:solidFill>
                <a:latin typeface="Roboto Mono"/>
                <a:ea typeface="Roboto Mono"/>
                <a:cs typeface="Roboto Mono"/>
                <a:sym typeface="Roboto Mono"/>
              </a:rPr>
              <a:t>loan_amnt</a:t>
            </a:r>
            <a:r>
              <a:rPr lang="zh-CN" sz="1000">
                <a:solidFill>
                  <a:schemeClr val="lt1"/>
                </a:solidFill>
              </a:rPr>
              <a:t> and </a:t>
            </a:r>
            <a:r>
              <a:rPr lang="zh-CN" sz="1000">
                <a:solidFill>
                  <a:schemeClr val="lt1"/>
                </a:solidFill>
                <a:latin typeface="Roboto Mono"/>
                <a:ea typeface="Roboto Mono"/>
                <a:cs typeface="Roboto Mono"/>
                <a:sym typeface="Roboto Mono"/>
              </a:rPr>
              <a:t>loan_intent_id</a:t>
            </a:r>
            <a:r>
              <a:rPr lang="zh-CN" sz="1000">
                <a:solidFill>
                  <a:schemeClr val="lt1"/>
                </a:solidFill>
              </a:rPr>
              <a:t> show moderate but consistent effects.</a:t>
            </a:r>
            <a:endParaRPr sz="1000">
              <a:solidFill>
                <a:schemeClr val="lt1"/>
              </a:solidFill>
            </a:endParaRPr>
          </a:p>
          <a:p>
            <a:pPr indent="-292100" lvl="1" marL="914400" rtl="0" algn="l">
              <a:lnSpc>
                <a:spcPct val="115000"/>
              </a:lnSpc>
              <a:spcBef>
                <a:spcPts val="0"/>
              </a:spcBef>
              <a:spcAft>
                <a:spcPts val="0"/>
              </a:spcAft>
              <a:buClr>
                <a:schemeClr val="lt1"/>
              </a:buClr>
              <a:buSzPts val="1000"/>
              <a:buChar char="○"/>
            </a:pPr>
            <a:r>
              <a:rPr lang="zh-CN" sz="1000">
                <a:solidFill>
                  <a:schemeClr val="lt1"/>
                </a:solidFill>
                <a:latin typeface="Roboto Mono"/>
                <a:ea typeface="Roboto Mono"/>
                <a:cs typeface="Roboto Mono"/>
                <a:sym typeface="Roboto Mono"/>
              </a:rPr>
              <a:t>cb_person_cred_hist_length</a:t>
            </a:r>
            <a:r>
              <a:rPr lang="zh-CN" sz="1000">
                <a:solidFill>
                  <a:schemeClr val="lt1"/>
                </a:solidFill>
              </a:rPr>
              <a:t> and </a:t>
            </a:r>
            <a:r>
              <a:rPr lang="zh-CN" sz="1000">
                <a:solidFill>
                  <a:schemeClr val="lt1"/>
                </a:solidFill>
                <a:latin typeface="Roboto Mono"/>
                <a:ea typeface="Roboto Mono"/>
                <a:cs typeface="Roboto Mono"/>
                <a:sym typeface="Roboto Mono"/>
              </a:rPr>
              <a:t>cb_person_default_on_file</a:t>
            </a:r>
            <a:r>
              <a:rPr lang="zh-CN" sz="1000">
                <a:solidFill>
                  <a:schemeClr val="lt1"/>
                </a:solidFill>
              </a:rPr>
              <a:t> have minimal impact as most SHAP values cluster around zero.</a:t>
            </a:r>
            <a:endParaRPr sz="1000">
              <a:solidFill>
                <a:schemeClr val="lt1"/>
              </a:solidFill>
            </a:endParaRPr>
          </a:p>
          <a:p>
            <a:pPr indent="0" lvl="0" marL="0" rtl="0" algn="l">
              <a:spcBef>
                <a:spcPts val="1200"/>
              </a:spcBef>
              <a:spcAft>
                <a:spcPts val="0"/>
              </a:spcAft>
              <a:buNone/>
            </a:pPr>
            <a:r>
              <a:t/>
            </a:r>
            <a:endParaRPr sz="1000">
              <a:solidFill>
                <a:schemeClr val="lt1"/>
              </a:solidFill>
              <a:latin typeface="Open Sans"/>
              <a:ea typeface="Open Sans"/>
              <a:cs typeface="Open Sans"/>
              <a:sym typeface="Open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Bar-chart</a:t>
            </a:r>
            <a:endParaRPr/>
          </a:p>
        </p:txBody>
      </p:sp>
      <p:pic>
        <p:nvPicPr>
          <p:cNvPr id="261" name="Google Shape;261;p43"/>
          <p:cNvPicPr preferRelativeResize="0"/>
          <p:nvPr/>
        </p:nvPicPr>
        <p:blipFill>
          <a:blip r:embed="rId3">
            <a:alphaModFix/>
          </a:blip>
          <a:stretch>
            <a:fillRect/>
          </a:stretch>
        </p:blipFill>
        <p:spPr>
          <a:xfrm>
            <a:off x="311700" y="1183125"/>
            <a:ext cx="5598331" cy="3302699"/>
          </a:xfrm>
          <a:prstGeom prst="rect">
            <a:avLst/>
          </a:prstGeom>
          <a:noFill/>
          <a:ln>
            <a:noFill/>
          </a:ln>
        </p:spPr>
      </p:pic>
      <p:sp>
        <p:nvSpPr>
          <p:cNvPr id="262" name="Google Shape;262;p43"/>
          <p:cNvSpPr txBox="1"/>
          <p:nvPr/>
        </p:nvSpPr>
        <p:spPr>
          <a:xfrm>
            <a:off x="6128100" y="1152425"/>
            <a:ext cx="2704200" cy="364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CN" sz="1000"/>
              <a:t>Top Features</a:t>
            </a:r>
            <a:r>
              <a:rPr lang="zh-CN" sz="1000"/>
              <a:t>:</a:t>
            </a:r>
            <a:endParaRPr sz="1000"/>
          </a:p>
          <a:p>
            <a:pPr indent="-292100" lvl="0" marL="457200" rtl="0" algn="l">
              <a:lnSpc>
                <a:spcPct val="115000"/>
              </a:lnSpc>
              <a:spcBef>
                <a:spcPts val="1200"/>
              </a:spcBef>
              <a:spcAft>
                <a:spcPts val="0"/>
              </a:spcAft>
              <a:buSzPts val="1000"/>
              <a:buChar char="●"/>
            </a:pPr>
            <a:r>
              <a:rPr lang="zh-CN" sz="1000">
                <a:solidFill>
                  <a:srgbClr val="188038"/>
                </a:solidFill>
                <a:latin typeface="Roboto Mono"/>
                <a:ea typeface="Roboto Mono"/>
                <a:cs typeface="Roboto Mono"/>
                <a:sym typeface="Roboto Mono"/>
              </a:rPr>
              <a:t>person_income</a:t>
            </a:r>
            <a:r>
              <a:rPr lang="zh-CN" sz="1000"/>
              <a:t> and </a:t>
            </a:r>
            <a:r>
              <a:rPr lang="zh-CN" sz="1000">
                <a:solidFill>
                  <a:srgbClr val="188038"/>
                </a:solidFill>
                <a:latin typeface="Roboto Mono"/>
                <a:ea typeface="Roboto Mono"/>
                <a:cs typeface="Roboto Mono"/>
                <a:sym typeface="Roboto Mono"/>
              </a:rPr>
              <a:t>loan_grade</a:t>
            </a:r>
            <a:r>
              <a:rPr lang="zh-CN" sz="1000"/>
              <a:t> dominate the model’s predictions, indicating their strong influence.</a:t>
            </a:r>
            <a:endParaRPr sz="1000"/>
          </a:p>
          <a:p>
            <a:pPr indent="-292100" lvl="0" marL="457200" rtl="0" algn="l">
              <a:lnSpc>
                <a:spcPct val="115000"/>
              </a:lnSpc>
              <a:spcBef>
                <a:spcPts val="0"/>
              </a:spcBef>
              <a:spcAft>
                <a:spcPts val="0"/>
              </a:spcAft>
              <a:buSzPts val="1000"/>
              <a:buChar char="●"/>
            </a:pPr>
            <a:r>
              <a:rPr lang="zh-CN" sz="1000">
                <a:solidFill>
                  <a:srgbClr val="188038"/>
                </a:solidFill>
                <a:latin typeface="Roboto Mono"/>
                <a:ea typeface="Roboto Mono"/>
                <a:cs typeface="Roboto Mono"/>
                <a:sym typeface="Roboto Mono"/>
              </a:rPr>
              <a:t>person_home_ownership_code</a:t>
            </a:r>
            <a:r>
              <a:rPr lang="zh-CN" sz="1000"/>
              <a:t> and </a:t>
            </a:r>
            <a:r>
              <a:rPr lang="zh-CN" sz="1000">
                <a:solidFill>
                  <a:srgbClr val="188038"/>
                </a:solidFill>
                <a:latin typeface="Roboto Mono"/>
                <a:ea typeface="Roboto Mono"/>
                <a:cs typeface="Roboto Mono"/>
                <a:sym typeface="Roboto Mono"/>
              </a:rPr>
              <a:t>loan_amnt</a:t>
            </a:r>
            <a:r>
              <a:rPr lang="zh-CN" sz="1000"/>
              <a:t> are also significant contributors.</a:t>
            </a:r>
            <a:endParaRPr sz="1000"/>
          </a:p>
          <a:p>
            <a:pPr indent="0" lvl="0" marL="0" rtl="0" algn="l">
              <a:lnSpc>
                <a:spcPct val="115000"/>
              </a:lnSpc>
              <a:spcBef>
                <a:spcPts val="1200"/>
              </a:spcBef>
              <a:spcAft>
                <a:spcPts val="0"/>
              </a:spcAft>
              <a:buNone/>
            </a:pPr>
            <a:r>
              <a:rPr b="1" lang="zh-CN" sz="1000"/>
              <a:t>Low-Impact Features</a:t>
            </a:r>
            <a:r>
              <a:rPr lang="zh-CN" sz="1000"/>
              <a:t>:</a:t>
            </a:r>
            <a:endParaRPr sz="1000"/>
          </a:p>
          <a:p>
            <a:pPr indent="-292100" lvl="0" marL="457200" rtl="0" algn="l">
              <a:lnSpc>
                <a:spcPct val="115000"/>
              </a:lnSpc>
              <a:spcBef>
                <a:spcPts val="1200"/>
              </a:spcBef>
              <a:spcAft>
                <a:spcPts val="0"/>
              </a:spcAft>
              <a:buSzPts val="1000"/>
              <a:buChar char="●"/>
            </a:pPr>
            <a:r>
              <a:rPr lang="zh-CN" sz="1000">
                <a:solidFill>
                  <a:srgbClr val="188038"/>
                </a:solidFill>
                <a:latin typeface="Roboto Mono"/>
                <a:ea typeface="Roboto Mono"/>
                <a:cs typeface="Roboto Mono"/>
                <a:sym typeface="Roboto Mono"/>
              </a:rPr>
              <a:t>cb_person_cred_hist_length</a:t>
            </a:r>
            <a:r>
              <a:rPr lang="zh-CN" sz="1000"/>
              <a:t> and </a:t>
            </a:r>
            <a:r>
              <a:rPr lang="zh-CN" sz="1000">
                <a:solidFill>
                  <a:srgbClr val="188038"/>
                </a:solidFill>
                <a:latin typeface="Roboto Mono"/>
                <a:ea typeface="Roboto Mono"/>
                <a:cs typeface="Roboto Mono"/>
                <a:sym typeface="Roboto Mono"/>
              </a:rPr>
              <a:t>cb_person_default_on_file</a:t>
            </a:r>
            <a:r>
              <a:rPr lang="zh-CN" sz="1000"/>
              <a:t> contribute minimally, indicating they are less critical for predictions.</a:t>
            </a:r>
            <a:endParaRPr sz="1000"/>
          </a:p>
          <a:p>
            <a:pPr indent="0" lvl="0" marL="0" rtl="0" algn="l">
              <a:spcBef>
                <a:spcPts val="1200"/>
              </a:spcBef>
              <a:spcAft>
                <a:spcPts val="0"/>
              </a:spcAft>
              <a:buNone/>
            </a:pPr>
            <a:r>
              <a:t/>
            </a:r>
            <a:endParaRPr sz="1000">
              <a:solidFill>
                <a:schemeClr val="dk2"/>
              </a:solidFill>
              <a:latin typeface="Open Sans"/>
              <a:ea typeface="Open Sans"/>
              <a:cs typeface="Open Sans"/>
              <a:sym typeface="Open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4"/>
          <p:cNvSpPr txBox="1"/>
          <p:nvPr>
            <p:ph type="title"/>
          </p:nvPr>
        </p:nvSpPr>
        <p:spPr>
          <a:xfrm>
            <a:off x="271275" y="532650"/>
            <a:ext cx="8586300" cy="942000"/>
          </a:xfrm>
          <a:prstGeom prst="rect">
            <a:avLst/>
          </a:prstGeom>
        </p:spPr>
        <p:txBody>
          <a:bodyPr anchorCtr="0" anchor="t" bIns="91425" lIns="91425" spcFirstLastPara="1" rIns="91425" wrap="square" tIns="91425">
            <a:noAutofit/>
          </a:bodyPr>
          <a:lstStyle/>
          <a:p>
            <a:pPr indent="0" lvl="0" marL="0" marR="0" rtl="0" algn="l">
              <a:lnSpc>
                <a:spcPct val="150000"/>
              </a:lnSpc>
              <a:spcBef>
                <a:spcPts val="0"/>
              </a:spcBef>
              <a:spcAft>
                <a:spcPts val="0"/>
              </a:spcAft>
              <a:buNone/>
            </a:pPr>
            <a:r>
              <a:rPr lang="zh-CN" sz="5600">
                <a:latin typeface="Arial"/>
                <a:ea typeface="Arial"/>
                <a:cs typeface="Arial"/>
                <a:sym typeface="Arial"/>
              </a:rPr>
              <a:t>      </a:t>
            </a:r>
            <a:r>
              <a:rPr lang="zh-CN" sz="5600">
                <a:latin typeface="Arial"/>
                <a:ea typeface="Arial"/>
                <a:cs typeface="Arial"/>
                <a:sym typeface="Arial"/>
              </a:rPr>
              <a:t>LightGBM (bonus)</a:t>
            </a:r>
            <a:endParaRPr sz="4400">
              <a:latin typeface="Georgia"/>
              <a:ea typeface="Georgia"/>
              <a:cs typeface="Georgia"/>
              <a:sym typeface="Georgia"/>
            </a:endParaRPr>
          </a:p>
        </p:txBody>
      </p:sp>
      <p:sp>
        <p:nvSpPr>
          <p:cNvPr id="268" name="Google Shape;268;p44"/>
          <p:cNvSpPr txBox="1"/>
          <p:nvPr/>
        </p:nvSpPr>
        <p:spPr>
          <a:xfrm>
            <a:off x="2116000" y="3146875"/>
            <a:ext cx="5187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a:solidFill>
                  <a:schemeClr val="lt1"/>
                </a:solidFill>
              </a:rPr>
              <a:t>Focuses on speed and memory efficiency by leveraging histogram-based algorithms and leaf-wise tree growth, making it ideal for large datasets with high dimensionality.</a:t>
            </a:r>
            <a:endParaRPr>
              <a:solidFill>
                <a:schemeClr val="lt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pic>
        <p:nvPicPr>
          <p:cNvPr id="273" name="Google Shape;273;p45"/>
          <p:cNvPicPr preferRelativeResize="0"/>
          <p:nvPr/>
        </p:nvPicPr>
        <p:blipFill>
          <a:blip r:embed="rId3">
            <a:alphaModFix/>
          </a:blip>
          <a:stretch>
            <a:fillRect/>
          </a:stretch>
        </p:blipFill>
        <p:spPr>
          <a:xfrm>
            <a:off x="39500" y="34625"/>
            <a:ext cx="4470875" cy="3788500"/>
          </a:xfrm>
          <a:prstGeom prst="rect">
            <a:avLst/>
          </a:prstGeom>
          <a:noFill/>
          <a:ln>
            <a:noFill/>
          </a:ln>
        </p:spPr>
      </p:pic>
      <p:pic>
        <p:nvPicPr>
          <p:cNvPr id="274" name="Google Shape;274;p45"/>
          <p:cNvPicPr preferRelativeResize="0"/>
          <p:nvPr/>
        </p:nvPicPr>
        <p:blipFill>
          <a:blip r:embed="rId4">
            <a:alphaModFix/>
          </a:blip>
          <a:stretch>
            <a:fillRect/>
          </a:stretch>
        </p:blipFill>
        <p:spPr>
          <a:xfrm>
            <a:off x="368350" y="4204825"/>
            <a:ext cx="2262300" cy="806175"/>
          </a:xfrm>
          <a:prstGeom prst="rect">
            <a:avLst/>
          </a:prstGeom>
          <a:noFill/>
          <a:ln>
            <a:noFill/>
          </a:ln>
        </p:spPr>
      </p:pic>
      <p:pic>
        <p:nvPicPr>
          <p:cNvPr id="275" name="Google Shape;275;p45"/>
          <p:cNvPicPr preferRelativeResize="0"/>
          <p:nvPr/>
        </p:nvPicPr>
        <p:blipFill>
          <a:blip r:embed="rId5">
            <a:alphaModFix/>
          </a:blip>
          <a:stretch>
            <a:fillRect/>
          </a:stretch>
        </p:blipFill>
        <p:spPr>
          <a:xfrm>
            <a:off x="59125" y="3745000"/>
            <a:ext cx="4431625" cy="371450"/>
          </a:xfrm>
          <a:prstGeom prst="rect">
            <a:avLst/>
          </a:prstGeom>
          <a:noFill/>
          <a:ln>
            <a:noFill/>
          </a:ln>
        </p:spPr>
      </p:pic>
      <p:sp>
        <p:nvSpPr>
          <p:cNvPr id="276" name="Google Shape;276;p45"/>
          <p:cNvSpPr txBox="1"/>
          <p:nvPr/>
        </p:nvSpPr>
        <p:spPr>
          <a:xfrm>
            <a:off x="4981550" y="122700"/>
            <a:ext cx="3538500" cy="267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CN" sz="900">
                <a:solidFill>
                  <a:schemeClr val="lt1"/>
                </a:solidFill>
              </a:rPr>
              <a:t>Accuracy</a:t>
            </a:r>
            <a:r>
              <a:rPr lang="zh-CN" sz="900">
                <a:solidFill>
                  <a:schemeClr val="lt1"/>
                </a:solidFill>
              </a:rPr>
              <a:t>:</a:t>
            </a:r>
            <a:endParaRPr sz="900">
              <a:solidFill>
                <a:schemeClr val="lt1"/>
              </a:solidFill>
            </a:endParaRPr>
          </a:p>
          <a:p>
            <a:pPr indent="-285750" lvl="0" marL="457200" rtl="0" algn="l">
              <a:lnSpc>
                <a:spcPct val="115000"/>
              </a:lnSpc>
              <a:spcBef>
                <a:spcPts val="1200"/>
              </a:spcBef>
              <a:spcAft>
                <a:spcPts val="0"/>
              </a:spcAft>
              <a:buClr>
                <a:schemeClr val="lt1"/>
              </a:buClr>
              <a:buSzPts val="900"/>
              <a:buChar char="●"/>
            </a:pPr>
            <a:r>
              <a:rPr b="1" lang="zh-CN" sz="900">
                <a:solidFill>
                  <a:schemeClr val="lt1"/>
                </a:solidFill>
              </a:rPr>
              <a:t>Train Accuracy</a:t>
            </a:r>
            <a:r>
              <a:rPr lang="zh-CN" sz="900">
                <a:solidFill>
                  <a:schemeClr val="lt1"/>
                </a:solidFill>
              </a:rPr>
              <a:t>: 95.07% shows a well-fitted model without overfitting.</a:t>
            </a:r>
            <a:endParaRPr sz="900">
              <a:solidFill>
                <a:schemeClr val="lt1"/>
              </a:solidFill>
            </a:endParaRPr>
          </a:p>
          <a:p>
            <a:pPr indent="-285750" lvl="0" marL="457200" rtl="0" algn="l">
              <a:lnSpc>
                <a:spcPct val="115000"/>
              </a:lnSpc>
              <a:spcBef>
                <a:spcPts val="0"/>
              </a:spcBef>
              <a:spcAft>
                <a:spcPts val="0"/>
              </a:spcAft>
              <a:buClr>
                <a:schemeClr val="lt1"/>
              </a:buClr>
              <a:buSzPts val="900"/>
              <a:buChar char="●"/>
            </a:pPr>
            <a:r>
              <a:rPr b="1" lang="zh-CN" sz="900">
                <a:solidFill>
                  <a:schemeClr val="lt1"/>
                </a:solidFill>
              </a:rPr>
              <a:t>Prediction Accuracy</a:t>
            </a:r>
            <a:r>
              <a:rPr lang="zh-CN" sz="900">
                <a:solidFill>
                  <a:schemeClr val="lt1"/>
                </a:solidFill>
              </a:rPr>
              <a:t>: 94.72%, demonstrating consistent performance on unseen data.</a:t>
            </a:r>
            <a:endParaRPr sz="900">
              <a:solidFill>
                <a:schemeClr val="lt1"/>
              </a:solidFill>
            </a:endParaRPr>
          </a:p>
          <a:p>
            <a:pPr indent="0" lvl="0" marL="0" rtl="0" algn="l">
              <a:lnSpc>
                <a:spcPct val="115000"/>
              </a:lnSpc>
              <a:spcBef>
                <a:spcPts val="1200"/>
              </a:spcBef>
              <a:spcAft>
                <a:spcPts val="0"/>
              </a:spcAft>
              <a:buNone/>
            </a:pPr>
            <a:r>
              <a:rPr b="1" lang="zh-CN" sz="900">
                <a:solidFill>
                  <a:schemeClr val="lt1"/>
                </a:solidFill>
              </a:rPr>
              <a:t>Precision (88.72%)</a:t>
            </a:r>
            <a:r>
              <a:rPr lang="zh-CN" sz="900">
                <a:solidFill>
                  <a:schemeClr val="lt1"/>
                </a:solidFill>
              </a:rPr>
              <a:t>:</a:t>
            </a:r>
            <a:endParaRPr sz="900">
              <a:solidFill>
                <a:schemeClr val="lt1"/>
              </a:solidFill>
            </a:endParaRPr>
          </a:p>
          <a:p>
            <a:pPr indent="-285750" lvl="0" marL="457200" rtl="0" algn="l">
              <a:lnSpc>
                <a:spcPct val="115000"/>
              </a:lnSpc>
              <a:spcBef>
                <a:spcPts val="1200"/>
              </a:spcBef>
              <a:spcAft>
                <a:spcPts val="0"/>
              </a:spcAft>
              <a:buClr>
                <a:schemeClr val="lt1"/>
              </a:buClr>
              <a:buSzPts val="900"/>
              <a:buChar char="●"/>
            </a:pPr>
            <a:r>
              <a:rPr lang="zh-CN" sz="900">
                <a:solidFill>
                  <a:schemeClr val="lt1"/>
                </a:solidFill>
              </a:rPr>
              <a:t>High precision indicates that most predicted approvals are accurate, minimizing false positives.</a:t>
            </a:r>
            <a:endParaRPr sz="900">
              <a:solidFill>
                <a:schemeClr val="lt1"/>
              </a:solidFill>
            </a:endParaRPr>
          </a:p>
          <a:p>
            <a:pPr indent="0" lvl="0" marL="0" rtl="0" algn="l">
              <a:lnSpc>
                <a:spcPct val="115000"/>
              </a:lnSpc>
              <a:spcBef>
                <a:spcPts val="1200"/>
              </a:spcBef>
              <a:spcAft>
                <a:spcPts val="0"/>
              </a:spcAft>
              <a:buNone/>
            </a:pPr>
            <a:r>
              <a:rPr b="1" lang="zh-CN" sz="900">
                <a:solidFill>
                  <a:schemeClr val="lt1"/>
                </a:solidFill>
              </a:rPr>
              <a:t>Recall (71.66%)</a:t>
            </a:r>
            <a:r>
              <a:rPr lang="zh-CN" sz="900">
                <a:solidFill>
                  <a:schemeClr val="lt1"/>
                </a:solidFill>
              </a:rPr>
              <a:t>:</a:t>
            </a:r>
            <a:endParaRPr sz="900">
              <a:solidFill>
                <a:schemeClr val="lt1"/>
              </a:solidFill>
            </a:endParaRPr>
          </a:p>
          <a:p>
            <a:pPr indent="-285750" lvl="0" marL="457200" rtl="0" algn="l">
              <a:lnSpc>
                <a:spcPct val="115000"/>
              </a:lnSpc>
              <a:spcBef>
                <a:spcPts val="1200"/>
              </a:spcBef>
              <a:spcAft>
                <a:spcPts val="0"/>
              </a:spcAft>
              <a:buClr>
                <a:schemeClr val="lt1"/>
              </a:buClr>
              <a:buSzPts val="900"/>
              <a:buChar char="●"/>
            </a:pPr>
            <a:r>
              <a:rPr lang="zh-CN" sz="900">
                <a:solidFill>
                  <a:schemeClr val="lt1"/>
                </a:solidFill>
              </a:rPr>
              <a:t>Recall is moderate, indicating some eligible approvals are missed.</a:t>
            </a:r>
            <a:endParaRPr sz="900">
              <a:solidFill>
                <a:schemeClr val="lt1"/>
              </a:solidFill>
            </a:endParaRPr>
          </a:p>
          <a:p>
            <a:pPr indent="0" lvl="0" marL="0" rtl="0" algn="l">
              <a:lnSpc>
                <a:spcPct val="115000"/>
              </a:lnSpc>
              <a:spcBef>
                <a:spcPts val="1200"/>
              </a:spcBef>
              <a:spcAft>
                <a:spcPts val="0"/>
              </a:spcAft>
              <a:buNone/>
            </a:pPr>
            <a:r>
              <a:rPr b="1" lang="zh-CN" sz="900">
                <a:solidFill>
                  <a:schemeClr val="lt1"/>
                </a:solidFill>
              </a:rPr>
              <a:t>F1 Score (79.29%)</a:t>
            </a:r>
            <a:r>
              <a:rPr lang="zh-CN" sz="900">
                <a:solidFill>
                  <a:schemeClr val="lt1"/>
                </a:solidFill>
              </a:rPr>
              <a:t>:</a:t>
            </a:r>
            <a:endParaRPr sz="900">
              <a:solidFill>
                <a:schemeClr val="lt1"/>
              </a:solidFill>
            </a:endParaRPr>
          </a:p>
          <a:p>
            <a:pPr indent="-285750" lvl="0" marL="457200" rtl="0" algn="l">
              <a:lnSpc>
                <a:spcPct val="115000"/>
              </a:lnSpc>
              <a:spcBef>
                <a:spcPts val="1200"/>
              </a:spcBef>
              <a:spcAft>
                <a:spcPts val="0"/>
              </a:spcAft>
              <a:buClr>
                <a:schemeClr val="lt1"/>
              </a:buClr>
              <a:buSzPts val="900"/>
              <a:buChar char="●"/>
            </a:pPr>
            <a:r>
              <a:rPr lang="zh-CN" sz="900">
                <a:solidFill>
                  <a:schemeClr val="lt1"/>
                </a:solidFill>
              </a:rPr>
              <a:t>Balances precision and recall, reflecting the model's good overall performance.</a:t>
            </a:r>
            <a:endParaRPr sz="900">
              <a:solidFill>
                <a:schemeClr val="lt1"/>
              </a:solidFill>
              <a:latin typeface="Open Sans"/>
              <a:ea typeface="Open Sans"/>
              <a:cs typeface="Open Sans"/>
              <a:sym typeface="Open Sans"/>
            </a:endParaRPr>
          </a:p>
        </p:txBody>
      </p:sp>
      <p:sp>
        <p:nvSpPr>
          <p:cNvPr id="277" name="Google Shape;277;p45"/>
          <p:cNvSpPr txBox="1"/>
          <p:nvPr/>
        </p:nvSpPr>
        <p:spPr>
          <a:xfrm>
            <a:off x="4981550" y="3552800"/>
            <a:ext cx="3666300" cy="706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None/>
            </a:pPr>
            <a:r>
              <a:rPr lang="zh-CN" sz="900">
                <a:solidFill>
                  <a:schemeClr val="lt1"/>
                </a:solidFill>
              </a:rPr>
              <a:t>The LightGBM model delivers strong accuracy (94.72%) and high precision (88.72%), making it reliable for predicting loan approvals. Its quick training time and robust generalization make it an efficient and effective choice for this task, with slight adjustments to improve recall further enhancing performance.</a:t>
            </a:r>
            <a:endParaRPr sz="900">
              <a:solidFill>
                <a:schemeClr val="lt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id="282" name="Google Shape;282;p46"/>
          <p:cNvPicPr preferRelativeResize="0"/>
          <p:nvPr/>
        </p:nvPicPr>
        <p:blipFill>
          <a:blip r:embed="rId3">
            <a:alphaModFix/>
          </a:blip>
          <a:stretch>
            <a:fillRect/>
          </a:stretch>
        </p:blipFill>
        <p:spPr>
          <a:xfrm>
            <a:off x="73875" y="1182800"/>
            <a:ext cx="4398125" cy="2839150"/>
          </a:xfrm>
          <a:prstGeom prst="rect">
            <a:avLst/>
          </a:prstGeom>
          <a:noFill/>
          <a:ln>
            <a:noFill/>
          </a:ln>
        </p:spPr>
      </p:pic>
      <p:sp>
        <p:nvSpPr>
          <p:cNvPr id="283" name="Google Shape;283;p46"/>
          <p:cNvSpPr txBox="1"/>
          <p:nvPr/>
        </p:nvSpPr>
        <p:spPr>
          <a:xfrm>
            <a:off x="4799950" y="615900"/>
            <a:ext cx="4161900" cy="391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1"/>
              </a:solidFill>
            </a:endParaRPr>
          </a:p>
          <a:p>
            <a:pPr indent="-292100" lvl="0" marL="457200" rtl="0" algn="l">
              <a:lnSpc>
                <a:spcPct val="115000"/>
              </a:lnSpc>
              <a:spcBef>
                <a:spcPts val="1200"/>
              </a:spcBef>
              <a:spcAft>
                <a:spcPts val="0"/>
              </a:spcAft>
              <a:buClr>
                <a:schemeClr val="lt1"/>
              </a:buClr>
              <a:buSzPts val="1000"/>
              <a:buChar char="●"/>
            </a:pPr>
            <a:r>
              <a:rPr b="1" lang="zh-CN" sz="1000">
                <a:solidFill>
                  <a:schemeClr val="lt1"/>
                </a:solidFill>
                <a:latin typeface="Roboto Mono"/>
                <a:ea typeface="Roboto Mono"/>
                <a:cs typeface="Roboto Mono"/>
                <a:sym typeface="Roboto Mono"/>
              </a:rPr>
              <a:t>person_income</a:t>
            </a:r>
            <a:r>
              <a:rPr lang="zh-CN" sz="1000">
                <a:solidFill>
                  <a:schemeClr val="lt1"/>
                </a:solidFill>
              </a:rPr>
              <a:t>: </a:t>
            </a:r>
            <a:endParaRPr sz="1000">
              <a:solidFill>
                <a:schemeClr val="lt1"/>
              </a:solidFill>
            </a:endParaRPr>
          </a:p>
          <a:p>
            <a:pPr indent="-292100" lvl="1" marL="914400" rtl="0" algn="l">
              <a:lnSpc>
                <a:spcPct val="115000"/>
              </a:lnSpc>
              <a:spcBef>
                <a:spcPts val="0"/>
              </a:spcBef>
              <a:spcAft>
                <a:spcPts val="0"/>
              </a:spcAft>
              <a:buClr>
                <a:schemeClr val="lt1"/>
              </a:buClr>
              <a:buSzPts val="1000"/>
              <a:buChar char="○"/>
            </a:pPr>
            <a:r>
              <a:rPr lang="zh-CN" sz="1000">
                <a:solidFill>
                  <a:schemeClr val="lt1"/>
                </a:solidFill>
              </a:rPr>
              <a:t>High income (red points) strongly decreases loan approval probability, while low income (blue points) increases it significantly. It's the most influential feature.</a:t>
            </a:r>
            <a:endParaRPr sz="1000">
              <a:solidFill>
                <a:schemeClr val="lt1"/>
              </a:solidFill>
            </a:endParaRPr>
          </a:p>
          <a:p>
            <a:pPr indent="-292100" lvl="0" marL="457200" rtl="0" algn="l">
              <a:lnSpc>
                <a:spcPct val="115000"/>
              </a:lnSpc>
              <a:spcBef>
                <a:spcPts val="0"/>
              </a:spcBef>
              <a:spcAft>
                <a:spcPts val="0"/>
              </a:spcAft>
              <a:buClr>
                <a:schemeClr val="lt1"/>
              </a:buClr>
              <a:buSzPts val="1000"/>
              <a:buChar char="●"/>
            </a:pPr>
            <a:r>
              <a:rPr b="1" lang="zh-CN" sz="1000">
                <a:solidFill>
                  <a:schemeClr val="lt1"/>
                </a:solidFill>
                <a:latin typeface="Roboto Mono"/>
                <a:ea typeface="Roboto Mono"/>
                <a:cs typeface="Roboto Mono"/>
                <a:sym typeface="Roboto Mono"/>
              </a:rPr>
              <a:t>loan_grade</a:t>
            </a:r>
            <a:r>
              <a:rPr lang="zh-CN" sz="1000">
                <a:solidFill>
                  <a:schemeClr val="lt1"/>
                </a:solidFill>
              </a:rPr>
              <a:t>:</a:t>
            </a:r>
            <a:endParaRPr sz="1000">
              <a:solidFill>
                <a:schemeClr val="lt1"/>
              </a:solidFill>
            </a:endParaRPr>
          </a:p>
          <a:p>
            <a:pPr indent="-292100" lvl="1" marL="914400" rtl="0" algn="l">
              <a:lnSpc>
                <a:spcPct val="115000"/>
              </a:lnSpc>
              <a:spcBef>
                <a:spcPts val="0"/>
              </a:spcBef>
              <a:spcAft>
                <a:spcPts val="0"/>
              </a:spcAft>
              <a:buClr>
                <a:schemeClr val="lt1"/>
              </a:buClr>
              <a:buSzPts val="1000"/>
              <a:buChar char="○"/>
            </a:pPr>
            <a:r>
              <a:rPr lang="zh-CN" sz="1000">
                <a:solidFill>
                  <a:schemeClr val="lt1"/>
                </a:solidFill>
              </a:rPr>
              <a:t>Better loan grades (red points) significantly boost approval chances, while lower gradaes (blue points) decrease them.</a:t>
            </a:r>
            <a:endParaRPr sz="1000">
              <a:solidFill>
                <a:schemeClr val="lt1"/>
              </a:solidFill>
            </a:endParaRPr>
          </a:p>
          <a:p>
            <a:pPr indent="-292100" lvl="0" marL="457200" rtl="0" algn="l">
              <a:lnSpc>
                <a:spcPct val="115000"/>
              </a:lnSpc>
              <a:spcBef>
                <a:spcPts val="0"/>
              </a:spcBef>
              <a:spcAft>
                <a:spcPts val="0"/>
              </a:spcAft>
              <a:buClr>
                <a:schemeClr val="lt1"/>
              </a:buClr>
              <a:buSzPts val="1000"/>
              <a:buChar char="●"/>
            </a:pPr>
            <a:r>
              <a:rPr b="1" lang="zh-CN" sz="1000">
                <a:solidFill>
                  <a:schemeClr val="lt1"/>
                </a:solidFill>
                <a:latin typeface="Roboto Mono"/>
                <a:ea typeface="Roboto Mono"/>
                <a:cs typeface="Roboto Mono"/>
                <a:sym typeface="Roboto Mono"/>
              </a:rPr>
              <a:t>person_home_ownership_code</a:t>
            </a:r>
            <a:r>
              <a:rPr lang="zh-CN" sz="1000">
                <a:solidFill>
                  <a:schemeClr val="lt1"/>
                </a:solidFill>
              </a:rPr>
              <a:t>: </a:t>
            </a:r>
            <a:endParaRPr sz="1000">
              <a:solidFill>
                <a:schemeClr val="lt1"/>
              </a:solidFill>
            </a:endParaRPr>
          </a:p>
          <a:p>
            <a:pPr indent="-292100" lvl="1" marL="914400" rtl="0" algn="l">
              <a:lnSpc>
                <a:spcPct val="115000"/>
              </a:lnSpc>
              <a:spcBef>
                <a:spcPts val="0"/>
              </a:spcBef>
              <a:spcAft>
                <a:spcPts val="0"/>
              </a:spcAft>
              <a:buClr>
                <a:schemeClr val="lt1"/>
              </a:buClr>
              <a:buSzPts val="1000"/>
              <a:buChar char="○"/>
            </a:pPr>
            <a:r>
              <a:rPr lang="zh-CN" sz="1000">
                <a:solidFill>
                  <a:schemeClr val="lt1"/>
                </a:solidFill>
              </a:rPr>
              <a:t>Owning a home positively impacts predictions, suggesting stability as a factor.</a:t>
            </a:r>
            <a:endParaRPr sz="1000">
              <a:solidFill>
                <a:schemeClr val="lt1"/>
              </a:solidFill>
            </a:endParaRPr>
          </a:p>
          <a:p>
            <a:pPr indent="-292100" lvl="0" marL="457200" rtl="0" algn="l">
              <a:lnSpc>
                <a:spcPct val="115000"/>
              </a:lnSpc>
              <a:spcBef>
                <a:spcPts val="0"/>
              </a:spcBef>
              <a:spcAft>
                <a:spcPts val="0"/>
              </a:spcAft>
              <a:buClr>
                <a:schemeClr val="lt1"/>
              </a:buClr>
              <a:buSzPts val="1000"/>
              <a:buChar char="●"/>
            </a:pPr>
            <a:r>
              <a:rPr b="1" lang="zh-CN" sz="1000">
                <a:solidFill>
                  <a:schemeClr val="lt1"/>
                </a:solidFill>
              </a:rPr>
              <a:t>Other Features</a:t>
            </a:r>
            <a:r>
              <a:rPr lang="zh-CN" sz="1000">
                <a:solidFill>
                  <a:schemeClr val="lt1"/>
                </a:solidFill>
              </a:rPr>
              <a:t>:</a:t>
            </a:r>
            <a:endParaRPr sz="1000">
              <a:solidFill>
                <a:schemeClr val="lt1"/>
              </a:solidFill>
            </a:endParaRPr>
          </a:p>
          <a:p>
            <a:pPr indent="-292100" lvl="1" marL="914400" rtl="0" algn="l">
              <a:lnSpc>
                <a:spcPct val="115000"/>
              </a:lnSpc>
              <a:spcBef>
                <a:spcPts val="0"/>
              </a:spcBef>
              <a:spcAft>
                <a:spcPts val="0"/>
              </a:spcAft>
              <a:buClr>
                <a:schemeClr val="lt1"/>
              </a:buClr>
              <a:buSzPts val="1000"/>
              <a:buChar char="○"/>
            </a:pPr>
            <a:r>
              <a:rPr lang="zh-CN" sz="1000">
                <a:solidFill>
                  <a:schemeClr val="lt1"/>
                </a:solidFill>
              </a:rPr>
              <a:t>Features like </a:t>
            </a:r>
            <a:r>
              <a:rPr lang="zh-CN" sz="1000">
                <a:solidFill>
                  <a:schemeClr val="lt1"/>
                </a:solidFill>
                <a:latin typeface="Roboto Mono"/>
                <a:ea typeface="Roboto Mono"/>
                <a:cs typeface="Roboto Mono"/>
                <a:sym typeface="Roboto Mono"/>
              </a:rPr>
              <a:t>loan_amnt</a:t>
            </a:r>
            <a:r>
              <a:rPr lang="zh-CN" sz="1000">
                <a:solidFill>
                  <a:schemeClr val="lt1"/>
                </a:solidFill>
              </a:rPr>
              <a:t> and </a:t>
            </a:r>
            <a:r>
              <a:rPr lang="zh-CN" sz="1000">
                <a:solidFill>
                  <a:schemeClr val="lt1"/>
                </a:solidFill>
                <a:latin typeface="Roboto Mono"/>
                <a:ea typeface="Roboto Mono"/>
                <a:cs typeface="Roboto Mono"/>
                <a:sym typeface="Roboto Mono"/>
              </a:rPr>
              <a:t>loan_intent_id</a:t>
            </a:r>
            <a:r>
              <a:rPr lang="zh-CN" sz="1000">
                <a:solidFill>
                  <a:schemeClr val="lt1"/>
                </a:solidFill>
              </a:rPr>
              <a:t> have moderate impacts.</a:t>
            </a:r>
            <a:endParaRPr sz="1000">
              <a:solidFill>
                <a:schemeClr val="lt1"/>
              </a:solidFill>
            </a:endParaRPr>
          </a:p>
          <a:p>
            <a:pPr indent="-292100" lvl="1" marL="914400" rtl="0" algn="l">
              <a:lnSpc>
                <a:spcPct val="115000"/>
              </a:lnSpc>
              <a:spcBef>
                <a:spcPts val="0"/>
              </a:spcBef>
              <a:spcAft>
                <a:spcPts val="0"/>
              </a:spcAft>
              <a:buClr>
                <a:schemeClr val="lt1"/>
              </a:buClr>
              <a:buSzPts val="1000"/>
              <a:buChar char="○"/>
            </a:pPr>
            <a:r>
              <a:rPr lang="zh-CN" sz="1000">
                <a:solidFill>
                  <a:schemeClr val="lt1"/>
                </a:solidFill>
              </a:rPr>
              <a:t>Variables such as </a:t>
            </a:r>
            <a:r>
              <a:rPr lang="zh-CN" sz="1000">
                <a:solidFill>
                  <a:schemeClr val="lt1"/>
                </a:solidFill>
                <a:latin typeface="Roboto Mono"/>
                <a:ea typeface="Roboto Mono"/>
                <a:cs typeface="Roboto Mono"/>
                <a:sym typeface="Roboto Mono"/>
              </a:rPr>
              <a:t>cb_person_cred_hist_length</a:t>
            </a:r>
            <a:r>
              <a:rPr lang="zh-CN" sz="1000">
                <a:solidFill>
                  <a:schemeClr val="lt1"/>
                </a:solidFill>
              </a:rPr>
              <a:t> and </a:t>
            </a:r>
            <a:r>
              <a:rPr lang="zh-CN" sz="1000">
                <a:solidFill>
                  <a:schemeClr val="lt1"/>
                </a:solidFill>
                <a:latin typeface="Roboto Mono"/>
                <a:ea typeface="Roboto Mono"/>
                <a:cs typeface="Roboto Mono"/>
                <a:sym typeface="Roboto Mono"/>
              </a:rPr>
              <a:t>cb_person_default_on_file</a:t>
            </a:r>
            <a:r>
              <a:rPr lang="zh-CN" sz="1000">
                <a:solidFill>
                  <a:schemeClr val="lt1"/>
                </a:solidFill>
              </a:rPr>
              <a:t> contribute minimally, with SHAP values clustering around zero.</a:t>
            </a:r>
            <a:endParaRPr sz="1000">
              <a:solidFill>
                <a:schemeClr val="lt1"/>
              </a:solidFill>
            </a:endParaRPr>
          </a:p>
          <a:p>
            <a:pPr indent="0" lvl="0" marL="0" rtl="0" algn="l">
              <a:spcBef>
                <a:spcPts val="1200"/>
              </a:spcBef>
              <a:spcAft>
                <a:spcPts val="0"/>
              </a:spcAft>
              <a:buNone/>
            </a:pPr>
            <a:r>
              <a:t/>
            </a:r>
            <a:endParaRPr sz="1000">
              <a:solidFill>
                <a:schemeClr val="lt1"/>
              </a:solidFill>
              <a:latin typeface="Open Sans"/>
              <a:ea typeface="Open Sans"/>
              <a:cs typeface="Open Sans"/>
              <a:sym typeface="Open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Bar-</a:t>
            </a:r>
            <a:r>
              <a:rPr lang="zh-CN"/>
              <a:t>chart</a:t>
            </a:r>
            <a:endParaRPr/>
          </a:p>
        </p:txBody>
      </p:sp>
      <p:pic>
        <p:nvPicPr>
          <p:cNvPr id="289" name="Google Shape;289;p47"/>
          <p:cNvPicPr preferRelativeResize="0"/>
          <p:nvPr/>
        </p:nvPicPr>
        <p:blipFill>
          <a:blip r:embed="rId3">
            <a:alphaModFix/>
          </a:blip>
          <a:stretch>
            <a:fillRect/>
          </a:stretch>
        </p:blipFill>
        <p:spPr>
          <a:xfrm>
            <a:off x="311700" y="1217075"/>
            <a:ext cx="5779023" cy="3442575"/>
          </a:xfrm>
          <a:prstGeom prst="rect">
            <a:avLst/>
          </a:prstGeom>
          <a:noFill/>
          <a:ln>
            <a:noFill/>
          </a:ln>
        </p:spPr>
      </p:pic>
      <p:sp>
        <p:nvSpPr>
          <p:cNvPr id="290" name="Google Shape;290;p47"/>
          <p:cNvSpPr txBox="1"/>
          <p:nvPr/>
        </p:nvSpPr>
        <p:spPr>
          <a:xfrm>
            <a:off x="6296850" y="1118075"/>
            <a:ext cx="2847300" cy="359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CN" sz="1000"/>
              <a:t>Top Features</a:t>
            </a:r>
            <a:r>
              <a:rPr lang="zh-CN" sz="1000"/>
              <a:t>:</a:t>
            </a:r>
            <a:endParaRPr sz="1000"/>
          </a:p>
          <a:p>
            <a:pPr indent="-292100" lvl="0" marL="457200" rtl="0" algn="l">
              <a:lnSpc>
                <a:spcPct val="115000"/>
              </a:lnSpc>
              <a:spcBef>
                <a:spcPts val="1200"/>
              </a:spcBef>
              <a:spcAft>
                <a:spcPts val="0"/>
              </a:spcAft>
              <a:buSzPts val="1000"/>
              <a:buChar char="●"/>
            </a:pPr>
            <a:r>
              <a:rPr lang="zh-CN" sz="1000">
                <a:solidFill>
                  <a:srgbClr val="188038"/>
                </a:solidFill>
                <a:latin typeface="Roboto Mono"/>
                <a:ea typeface="Roboto Mono"/>
                <a:cs typeface="Roboto Mono"/>
                <a:sym typeface="Roboto Mono"/>
              </a:rPr>
              <a:t>person_income</a:t>
            </a:r>
            <a:r>
              <a:rPr lang="zh-CN" sz="1000"/>
              <a:t>: The dominant predictor, indicating that income is a key determinant of loan approvals.</a:t>
            </a:r>
            <a:endParaRPr sz="1000"/>
          </a:p>
          <a:p>
            <a:pPr indent="-292100" lvl="0" marL="457200" rtl="0" algn="l">
              <a:lnSpc>
                <a:spcPct val="115000"/>
              </a:lnSpc>
              <a:spcBef>
                <a:spcPts val="0"/>
              </a:spcBef>
              <a:spcAft>
                <a:spcPts val="0"/>
              </a:spcAft>
              <a:buSzPts val="1000"/>
              <a:buChar char="●"/>
            </a:pPr>
            <a:r>
              <a:rPr lang="zh-CN" sz="1000">
                <a:solidFill>
                  <a:srgbClr val="188038"/>
                </a:solidFill>
                <a:latin typeface="Roboto Mono"/>
                <a:ea typeface="Roboto Mono"/>
                <a:cs typeface="Roboto Mono"/>
                <a:sym typeface="Roboto Mono"/>
              </a:rPr>
              <a:t>loan_grade</a:t>
            </a:r>
            <a:r>
              <a:rPr lang="zh-CN" sz="1000"/>
              <a:t>: A critical factor, reflecting the applicant's creditworthiness.</a:t>
            </a:r>
            <a:endParaRPr sz="1000"/>
          </a:p>
          <a:p>
            <a:pPr indent="-292100" lvl="0" marL="457200" rtl="0" algn="l">
              <a:lnSpc>
                <a:spcPct val="115000"/>
              </a:lnSpc>
              <a:spcBef>
                <a:spcPts val="0"/>
              </a:spcBef>
              <a:spcAft>
                <a:spcPts val="0"/>
              </a:spcAft>
              <a:buSzPts val="1000"/>
              <a:buChar char="●"/>
            </a:pPr>
            <a:r>
              <a:rPr lang="zh-CN" sz="1000">
                <a:solidFill>
                  <a:srgbClr val="188038"/>
                </a:solidFill>
                <a:latin typeface="Roboto Mono"/>
                <a:ea typeface="Roboto Mono"/>
                <a:cs typeface="Roboto Mono"/>
                <a:sym typeface="Roboto Mono"/>
              </a:rPr>
              <a:t>person_home_ownership_code</a:t>
            </a:r>
            <a:r>
              <a:rPr lang="zh-CN" sz="1000"/>
              <a:t> and </a:t>
            </a:r>
            <a:r>
              <a:rPr lang="zh-CN" sz="1000">
                <a:solidFill>
                  <a:srgbClr val="188038"/>
                </a:solidFill>
                <a:latin typeface="Roboto Mono"/>
                <a:ea typeface="Roboto Mono"/>
                <a:cs typeface="Roboto Mono"/>
                <a:sym typeface="Roboto Mono"/>
              </a:rPr>
              <a:t>loan_amnt</a:t>
            </a:r>
            <a:r>
              <a:rPr lang="zh-CN" sz="1000"/>
              <a:t>: Indicate financial stability and requested loan size, respectively.</a:t>
            </a:r>
            <a:endParaRPr sz="1000"/>
          </a:p>
          <a:p>
            <a:pPr indent="0" lvl="0" marL="0" rtl="0" algn="l">
              <a:lnSpc>
                <a:spcPct val="115000"/>
              </a:lnSpc>
              <a:spcBef>
                <a:spcPts val="1200"/>
              </a:spcBef>
              <a:spcAft>
                <a:spcPts val="0"/>
              </a:spcAft>
              <a:buNone/>
            </a:pPr>
            <a:r>
              <a:rPr b="1" lang="zh-CN" sz="1000"/>
              <a:t>Low-Impact Features</a:t>
            </a:r>
            <a:r>
              <a:rPr lang="zh-CN" sz="1000"/>
              <a:t>:</a:t>
            </a:r>
            <a:endParaRPr sz="1000"/>
          </a:p>
          <a:p>
            <a:pPr indent="-292100" lvl="0" marL="457200" rtl="0" algn="l">
              <a:lnSpc>
                <a:spcPct val="115000"/>
              </a:lnSpc>
              <a:spcBef>
                <a:spcPts val="1200"/>
              </a:spcBef>
              <a:spcAft>
                <a:spcPts val="0"/>
              </a:spcAft>
              <a:buSzPts val="1000"/>
              <a:buChar char="●"/>
            </a:pPr>
            <a:r>
              <a:rPr lang="zh-CN" sz="1000">
                <a:solidFill>
                  <a:srgbClr val="188038"/>
                </a:solidFill>
                <a:latin typeface="Roboto Mono"/>
                <a:ea typeface="Roboto Mono"/>
                <a:cs typeface="Roboto Mono"/>
                <a:sym typeface="Roboto Mono"/>
              </a:rPr>
              <a:t>cb_person_cred_hist_length</a:t>
            </a:r>
            <a:r>
              <a:rPr lang="zh-CN" sz="1000"/>
              <a:t> and </a:t>
            </a:r>
            <a:r>
              <a:rPr lang="zh-CN" sz="1000">
                <a:solidFill>
                  <a:srgbClr val="188038"/>
                </a:solidFill>
                <a:latin typeface="Roboto Mono"/>
                <a:ea typeface="Roboto Mono"/>
                <a:cs typeface="Roboto Mono"/>
                <a:sym typeface="Roboto Mono"/>
              </a:rPr>
              <a:t>cb_person_default_on_file</a:t>
            </a:r>
            <a:r>
              <a:rPr lang="zh-CN" sz="1000"/>
              <a:t> have negligible contributions, suggesting limited predictive value.</a:t>
            </a:r>
            <a:endParaRPr sz="1000"/>
          </a:p>
          <a:p>
            <a:pPr indent="0" lvl="0" marL="0" rtl="0" algn="l">
              <a:spcBef>
                <a:spcPts val="1200"/>
              </a:spcBef>
              <a:spcAft>
                <a:spcPts val="0"/>
              </a:spcAft>
              <a:buNone/>
            </a:pPr>
            <a:r>
              <a:t/>
            </a:r>
            <a:endParaRPr sz="1000">
              <a:solidFill>
                <a:schemeClr val="dk2"/>
              </a:solidFill>
              <a:latin typeface="Open Sans"/>
              <a:ea typeface="Open Sans"/>
              <a:cs typeface="Open Sans"/>
              <a:sym typeface="Open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8"/>
          <p:cNvSpPr txBox="1"/>
          <p:nvPr>
            <p:ph type="title"/>
          </p:nvPr>
        </p:nvSpPr>
        <p:spPr>
          <a:xfrm>
            <a:off x="311700" y="56527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Summary of the models</a:t>
            </a:r>
            <a:endParaRPr/>
          </a:p>
        </p:txBody>
      </p:sp>
      <p:graphicFrame>
        <p:nvGraphicFramePr>
          <p:cNvPr id="296" name="Google Shape;296;p48"/>
          <p:cNvGraphicFramePr/>
          <p:nvPr/>
        </p:nvGraphicFramePr>
        <p:xfrm>
          <a:off x="663250" y="1680500"/>
          <a:ext cx="3000000" cy="3000000"/>
        </p:xfrm>
        <a:graphic>
          <a:graphicData uri="http://schemas.openxmlformats.org/drawingml/2006/table">
            <a:tbl>
              <a:tblPr>
                <a:noFill/>
                <a:tableStyleId>{17839882-9E61-4214-86D0-BF13D1B54BD2}</a:tableStyleId>
              </a:tblPr>
              <a:tblGrid>
                <a:gridCol w="1782000"/>
                <a:gridCol w="1876250"/>
                <a:gridCol w="1876250"/>
                <a:gridCol w="1876250"/>
              </a:tblGrid>
              <a:tr h="381000">
                <a:tc>
                  <a:txBody>
                    <a:bodyPr/>
                    <a:lstStyle/>
                    <a:p>
                      <a:pPr indent="0" lvl="0" marL="0" rtl="0" algn="l">
                        <a:spcBef>
                          <a:spcPts val="0"/>
                        </a:spcBef>
                        <a:spcAft>
                          <a:spcPts val="0"/>
                        </a:spcAft>
                        <a:buNone/>
                      </a:pPr>
                      <a:r>
                        <a:rPr lang="zh-CN" sz="1100"/>
                        <a:t>Logistic</a:t>
                      </a:r>
                      <a:r>
                        <a:rPr lang="zh-CN" sz="1100"/>
                        <a:t> Regression</a:t>
                      </a:r>
                      <a:endParaRPr sz="1300"/>
                    </a:p>
                  </a:txBody>
                  <a:tcPr marT="91425" marB="91425" marR="91425" marL="91425"/>
                </a:tc>
                <a:tc>
                  <a:txBody>
                    <a:bodyPr/>
                    <a:lstStyle/>
                    <a:p>
                      <a:pPr indent="0" lvl="0" marL="0" rtl="0" algn="l">
                        <a:spcBef>
                          <a:spcPts val="0"/>
                        </a:spcBef>
                        <a:spcAft>
                          <a:spcPts val="0"/>
                        </a:spcAft>
                        <a:buNone/>
                      </a:pPr>
                      <a:r>
                        <a:rPr lang="zh-CN" sz="1100"/>
                        <a:t>Train Accuracy - 89.12%</a:t>
                      </a:r>
                      <a:endParaRPr sz="1100"/>
                    </a:p>
                  </a:txBody>
                  <a:tcPr marT="91425" marB="91425" marR="91425" marL="91425"/>
                </a:tc>
                <a:tc>
                  <a:txBody>
                    <a:bodyPr/>
                    <a:lstStyle/>
                    <a:p>
                      <a:pPr indent="0" lvl="0" marL="0" rtl="0" algn="l">
                        <a:spcBef>
                          <a:spcPts val="0"/>
                        </a:spcBef>
                        <a:spcAft>
                          <a:spcPts val="0"/>
                        </a:spcAft>
                        <a:buNone/>
                      </a:pPr>
                      <a:r>
                        <a:rPr lang="zh-CN" sz="1100"/>
                        <a:t>Predict Accuracy - 89.45%</a:t>
                      </a:r>
                      <a:endParaRPr sz="1100"/>
                    </a:p>
                  </a:txBody>
                  <a:tcPr marT="91425" marB="91425" marR="91425" marL="91425"/>
                </a:tc>
                <a:tc>
                  <a:txBody>
                    <a:bodyPr/>
                    <a:lstStyle/>
                    <a:p>
                      <a:pPr indent="0" lvl="0" marL="0" rtl="0" algn="l">
                        <a:spcBef>
                          <a:spcPts val="0"/>
                        </a:spcBef>
                        <a:spcAft>
                          <a:spcPts val="0"/>
                        </a:spcAft>
                        <a:buNone/>
                      </a:pPr>
                      <a:r>
                        <a:rPr lang="zh-CN" sz="1100"/>
                        <a:t>Runtime - 0.88</a:t>
                      </a:r>
                      <a:endParaRPr sz="1100"/>
                    </a:p>
                  </a:txBody>
                  <a:tcPr marT="91425" marB="91425" marR="91425" marL="91425"/>
                </a:tc>
              </a:tr>
              <a:tr h="381000">
                <a:tc>
                  <a:txBody>
                    <a:bodyPr/>
                    <a:lstStyle/>
                    <a:p>
                      <a:pPr indent="0" lvl="0" marL="0" rtl="0" algn="l">
                        <a:spcBef>
                          <a:spcPts val="0"/>
                        </a:spcBef>
                        <a:spcAft>
                          <a:spcPts val="0"/>
                        </a:spcAft>
                        <a:buNone/>
                      </a:pPr>
                      <a:r>
                        <a:rPr lang="zh-CN" sz="1100"/>
                        <a:t>Decision Tree</a:t>
                      </a:r>
                      <a:endParaRPr sz="1100"/>
                    </a:p>
                  </a:txBody>
                  <a:tcPr marT="91425" marB="91425" marR="91425" marL="91425"/>
                </a:tc>
                <a:tc>
                  <a:txBody>
                    <a:bodyPr/>
                    <a:lstStyle/>
                    <a:p>
                      <a:pPr indent="0" lvl="0" marL="0" rtl="0" algn="l">
                        <a:spcBef>
                          <a:spcPts val="0"/>
                        </a:spcBef>
                        <a:spcAft>
                          <a:spcPts val="0"/>
                        </a:spcAft>
                        <a:buNone/>
                      </a:pPr>
                      <a:r>
                        <a:rPr lang="zh-CN" sz="1100"/>
                        <a:t>Train </a:t>
                      </a:r>
                      <a:r>
                        <a:rPr lang="zh-CN" sz="1100"/>
                        <a:t>Accuracy - 94.35%</a:t>
                      </a:r>
                      <a:endParaRPr sz="1100"/>
                    </a:p>
                  </a:txBody>
                  <a:tcPr marT="91425" marB="91425" marR="91425" marL="91425"/>
                </a:tc>
                <a:tc>
                  <a:txBody>
                    <a:bodyPr/>
                    <a:lstStyle/>
                    <a:p>
                      <a:pPr indent="0" lvl="0" marL="0" rtl="0" algn="l">
                        <a:spcBef>
                          <a:spcPts val="0"/>
                        </a:spcBef>
                        <a:spcAft>
                          <a:spcPts val="0"/>
                        </a:spcAft>
                        <a:buNone/>
                      </a:pPr>
                      <a:r>
                        <a:rPr lang="zh-CN" sz="1100"/>
                        <a:t>Predict Accuracy - 94.14%</a:t>
                      </a:r>
                      <a:endParaRPr/>
                    </a:p>
                  </a:txBody>
                  <a:tcPr marT="91425" marB="91425" marR="91425" marL="91425"/>
                </a:tc>
                <a:tc>
                  <a:txBody>
                    <a:bodyPr/>
                    <a:lstStyle/>
                    <a:p>
                      <a:pPr indent="0" lvl="0" marL="0" rtl="0" algn="l">
                        <a:spcBef>
                          <a:spcPts val="0"/>
                        </a:spcBef>
                        <a:spcAft>
                          <a:spcPts val="0"/>
                        </a:spcAft>
                        <a:buNone/>
                      </a:pPr>
                      <a:r>
                        <a:rPr lang="zh-CN" sz="1100"/>
                        <a:t>Runtime - 0.12</a:t>
                      </a:r>
                      <a:endParaRPr/>
                    </a:p>
                  </a:txBody>
                  <a:tcPr marT="91425" marB="91425" marR="91425" marL="91425"/>
                </a:tc>
              </a:tr>
              <a:tr h="381000">
                <a:tc>
                  <a:txBody>
                    <a:bodyPr/>
                    <a:lstStyle/>
                    <a:p>
                      <a:pPr indent="0" lvl="0" marL="0" rtl="0" algn="l">
                        <a:spcBef>
                          <a:spcPts val="0"/>
                        </a:spcBef>
                        <a:spcAft>
                          <a:spcPts val="0"/>
                        </a:spcAft>
                        <a:buNone/>
                      </a:pPr>
                      <a:r>
                        <a:rPr lang="zh-CN" sz="1100"/>
                        <a:t>Random Forest</a:t>
                      </a:r>
                      <a:endParaRPr sz="1100"/>
                    </a:p>
                  </a:txBody>
                  <a:tcPr marT="91425" marB="91425" marR="91425" marL="91425"/>
                </a:tc>
                <a:tc>
                  <a:txBody>
                    <a:bodyPr/>
                    <a:lstStyle/>
                    <a:p>
                      <a:pPr indent="0" lvl="0" marL="0" rtl="0" algn="l">
                        <a:spcBef>
                          <a:spcPts val="0"/>
                        </a:spcBef>
                        <a:spcAft>
                          <a:spcPts val="0"/>
                        </a:spcAft>
                        <a:buNone/>
                      </a:pPr>
                      <a:r>
                        <a:rPr lang="zh-CN" sz="1100"/>
                        <a:t>Train </a:t>
                      </a:r>
                      <a:r>
                        <a:rPr lang="zh-CN" sz="1100"/>
                        <a:t>Accuracy - 92.67%</a:t>
                      </a:r>
                      <a:endParaRPr sz="1100"/>
                    </a:p>
                  </a:txBody>
                  <a:tcPr marT="91425" marB="91425" marR="91425" marL="91425"/>
                </a:tc>
                <a:tc>
                  <a:txBody>
                    <a:bodyPr/>
                    <a:lstStyle/>
                    <a:p>
                      <a:pPr indent="0" lvl="0" marL="0" rtl="0" algn="l">
                        <a:spcBef>
                          <a:spcPts val="0"/>
                        </a:spcBef>
                        <a:spcAft>
                          <a:spcPts val="0"/>
                        </a:spcAft>
                        <a:buNone/>
                      </a:pPr>
                      <a:r>
                        <a:rPr lang="zh-CN" sz="1100"/>
                        <a:t>Predict Accuracy - 93.08%</a:t>
                      </a:r>
                      <a:endParaRPr/>
                    </a:p>
                  </a:txBody>
                  <a:tcPr marT="91425" marB="91425" marR="91425" marL="91425"/>
                </a:tc>
                <a:tc>
                  <a:txBody>
                    <a:bodyPr/>
                    <a:lstStyle/>
                    <a:p>
                      <a:pPr indent="0" lvl="0" marL="0" rtl="0" algn="l">
                        <a:spcBef>
                          <a:spcPts val="0"/>
                        </a:spcBef>
                        <a:spcAft>
                          <a:spcPts val="0"/>
                        </a:spcAft>
                        <a:buNone/>
                      </a:pPr>
                      <a:r>
                        <a:rPr lang="zh-CN" sz="1100"/>
                        <a:t>Runtime - 2.05</a:t>
                      </a:r>
                      <a:endParaRPr/>
                    </a:p>
                  </a:txBody>
                  <a:tcPr marT="91425" marB="91425" marR="91425" marL="91425"/>
                </a:tc>
              </a:tr>
              <a:tr h="381000">
                <a:tc>
                  <a:txBody>
                    <a:bodyPr/>
                    <a:lstStyle/>
                    <a:p>
                      <a:pPr indent="0" lvl="0" marL="0" rtl="0" algn="l">
                        <a:spcBef>
                          <a:spcPts val="0"/>
                        </a:spcBef>
                        <a:spcAft>
                          <a:spcPts val="0"/>
                        </a:spcAft>
                        <a:buNone/>
                      </a:pPr>
                      <a:r>
                        <a:rPr lang="zh-CN" sz="1100"/>
                        <a:t>Neural Network</a:t>
                      </a:r>
                      <a:endParaRPr sz="1100"/>
                    </a:p>
                  </a:txBody>
                  <a:tcPr marT="91425" marB="91425" marR="91425" marL="91425"/>
                </a:tc>
                <a:tc>
                  <a:txBody>
                    <a:bodyPr/>
                    <a:lstStyle/>
                    <a:p>
                      <a:pPr indent="0" lvl="0" marL="0" rtl="0" algn="l">
                        <a:spcBef>
                          <a:spcPts val="0"/>
                        </a:spcBef>
                        <a:spcAft>
                          <a:spcPts val="0"/>
                        </a:spcAft>
                        <a:buNone/>
                      </a:pPr>
                      <a:r>
                        <a:rPr lang="zh-CN" sz="1100"/>
                        <a:t>Train Accuracy - 92.98%</a:t>
                      </a:r>
                      <a:endParaRPr sz="1100"/>
                    </a:p>
                  </a:txBody>
                  <a:tcPr marT="91425" marB="91425" marR="91425" marL="91425"/>
                </a:tc>
                <a:tc>
                  <a:txBody>
                    <a:bodyPr/>
                    <a:lstStyle/>
                    <a:p>
                      <a:pPr indent="0" lvl="0" marL="0" rtl="0" algn="l">
                        <a:spcBef>
                          <a:spcPts val="0"/>
                        </a:spcBef>
                        <a:spcAft>
                          <a:spcPts val="0"/>
                        </a:spcAft>
                        <a:buNone/>
                      </a:pPr>
                      <a:r>
                        <a:rPr lang="zh-CN" sz="1100"/>
                        <a:t>Predict Accuracy - 86.06%</a:t>
                      </a:r>
                      <a:endParaRPr sz="1100"/>
                    </a:p>
                  </a:txBody>
                  <a:tcPr marT="91425" marB="91425" marR="91425" marL="91425"/>
                </a:tc>
                <a:tc>
                  <a:txBody>
                    <a:bodyPr/>
                    <a:lstStyle/>
                    <a:p>
                      <a:pPr indent="0" lvl="0" marL="0" rtl="0" algn="l">
                        <a:spcBef>
                          <a:spcPts val="0"/>
                        </a:spcBef>
                        <a:spcAft>
                          <a:spcPts val="0"/>
                        </a:spcAft>
                        <a:buNone/>
                      </a:pPr>
                      <a:r>
                        <a:rPr lang="zh-CN" sz="1100"/>
                        <a:t>Runtime - </a:t>
                      </a:r>
                      <a:r>
                        <a:rPr lang="zh-CN" sz="1100">
                          <a:highlight>
                            <a:srgbClr val="FFFFFF"/>
                          </a:highlight>
                        </a:rPr>
                        <a:t>51.51</a:t>
                      </a:r>
                      <a:endParaRPr sz="1200"/>
                    </a:p>
                  </a:txBody>
                  <a:tcPr marT="91425" marB="91425" marR="91425" marL="91425"/>
                </a:tc>
              </a:tr>
              <a:tr h="381000">
                <a:tc>
                  <a:txBody>
                    <a:bodyPr/>
                    <a:lstStyle/>
                    <a:p>
                      <a:pPr indent="0" lvl="0" marL="0" rtl="0" algn="l">
                        <a:spcBef>
                          <a:spcPts val="0"/>
                        </a:spcBef>
                        <a:spcAft>
                          <a:spcPts val="0"/>
                        </a:spcAft>
                        <a:buNone/>
                      </a:pPr>
                      <a:r>
                        <a:rPr lang="zh-CN" sz="1100"/>
                        <a:t>Gradient Boosted Decision Tree (GBDT)</a:t>
                      </a:r>
                      <a:endParaRPr sz="1100"/>
                    </a:p>
                  </a:txBody>
                  <a:tcPr marT="91425" marB="91425" marR="91425" marL="91425"/>
                </a:tc>
                <a:tc>
                  <a:txBody>
                    <a:bodyPr/>
                    <a:lstStyle/>
                    <a:p>
                      <a:pPr indent="0" lvl="0" marL="0" rtl="0" algn="l">
                        <a:spcBef>
                          <a:spcPts val="0"/>
                        </a:spcBef>
                        <a:spcAft>
                          <a:spcPts val="0"/>
                        </a:spcAft>
                        <a:buNone/>
                      </a:pPr>
                      <a:r>
                        <a:rPr lang="zh-CN" sz="1100"/>
                        <a:t>Train </a:t>
                      </a:r>
                      <a:r>
                        <a:rPr lang="zh-CN" sz="1100"/>
                        <a:t>Accuracy - 95.82%</a:t>
                      </a:r>
                      <a:endParaRPr sz="1100"/>
                    </a:p>
                  </a:txBody>
                  <a:tcPr marT="91425" marB="91425" marR="91425" marL="91425"/>
                </a:tc>
                <a:tc>
                  <a:txBody>
                    <a:bodyPr/>
                    <a:lstStyle/>
                    <a:p>
                      <a:pPr indent="0" lvl="0" marL="0" rtl="0" algn="l">
                        <a:spcBef>
                          <a:spcPts val="0"/>
                        </a:spcBef>
                        <a:spcAft>
                          <a:spcPts val="0"/>
                        </a:spcAft>
                        <a:buNone/>
                      </a:pPr>
                      <a:r>
                        <a:rPr lang="zh-CN" sz="1100"/>
                        <a:t>Predict Accuracy - 95.07%</a:t>
                      </a:r>
                      <a:endParaRPr/>
                    </a:p>
                  </a:txBody>
                  <a:tcPr marT="91425" marB="91425" marR="91425" marL="91425"/>
                </a:tc>
                <a:tc>
                  <a:txBody>
                    <a:bodyPr/>
                    <a:lstStyle/>
                    <a:p>
                      <a:pPr indent="0" lvl="0" marL="0" rtl="0" algn="l">
                        <a:spcBef>
                          <a:spcPts val="0"/>
                        </a:spcBef>
                        <a:spcAft>
                          <a:spcPts val="0"/>
                        </a:spcAft>
                        <a:buNone/>
                      </a:pPr>
                      <a:r>
                        <a:rPr lang="zh-CN" sz="1100"/>
                        <a:t>Runtime - 5.38</a:t>
                      </a:r>
                      <a:endParaRPr/>
                    </a:p>
                  </a:txBody>
                  <a:tcPr marT="91425" marB="91425" marR="91425" marL="91425"/>
                </a:tc>
              </a:tr>
              <a:tr h="381000">
                <a:tc>
                  <a:txBody>
                    <a:bodyPr/>
                    <a:lstStyle/>
                    <a:p>
                      <a:pPr indent="0" lvl="0" marL="0" rtl="0" algn="l">
                        <a:spcBef>
                          <a:spcPts val="0"/>
                        </a:spcBef>
                        <a:spcAft>
                          <a:spcPts val="0"/>
                        </a:spcAft>
                        <a:buNone/>
                      </a:pPr>
                      <a:r>
                        <a:rPr lang="zh-CN" sz="1100"/>
                        <a:t>XGBoost</a:t>
                      </a:r>
                      <a:endParaRPr sz="1100"/>
                    </a:p>
                  </a:txBody>
                  <a:tcPr marT="91425" marB="91425" marR="91425" marL="91425"/>
                </a:tc>
                <a:tc>
                  <a:txBody>
                    <a:bodyPr/>
                    <a:lstStyle/>
                    <a:p>
                      <a:pPr indent="0" lvl="0" marL="0" rtl="0" algn="l">
                        <a:spcBef>
                          <a:spcPts val="0"/>
                        </a:spcBef>
                        <a:spcAft>
                          <a:spcPts val="0"/>
                        </a:spcAft>
                        <a:buNone/>
                      </a:pPr>
                      <a:r>
                        <a:rPr lang="zh-CN" sz="1100"/>
                        <a:t>Train </a:t>
                      </a:r>
                      <a:r>
                        <a:rPr lang="zh-CN" sz="1100"/>
                        <a:t>Accuracy - 96.31%</a:t>
                      </a:r>
                      <a:endParaRPr sz="1100"/>
                    </a:p>
                  </a:txBody>
                  <a:tcPr marT="91425" marB="91425" marR="91425" marL="91425"/>
                </a:tc>
                <a:tc>
                  <a:txBody>
                    <a:bodyPr/>
                    <a:lstStyle/>
                    <a:p>
                      <a:pPr indent="0" lvl="0" marL="0" rtl="0" algn="l">
                        <a:spcBef>
                          <a:spcPts val="0"/>
                        </a:spcBef>
                        <a:spcAft>
                          <a:spcPts val="0"/>
                        </a:spcAft>
                        <a:buNone/>
                      </a:pPr>
                      <a:r>
                        <a:rPr lang="zh-CN" sz="1100"/>
                        <a:t>Predict Accuracy - 95.00%</a:t>
                      </a:r>
                      <a:endParaRPr/>
                    </a:p>
                  </a:txBody>
                  <a:tcPr marT="91425" marB="91425" marR="91425" marL="91425"/>
                </a:tc>
                <a:tc>
                  <a:txBody>
                    <a:bodyPr/>
                    <a:lstStyle/>
                    <a:p>
                      <a:pPr indent="0" lvl="0" marL="0" rtl="0" algn="l">
                        <a:spcBef>
                          <a:spcPts val="0"/>
                        </a:spcBef>
                        <a:spcAft>
                          <a:spcPts val="0"/>
                        </a:spcAft>
                        <a:buNone/>
                      </a:pPr>
                      <a:r>
                        <a:rPr lang="zh-CN" sz="1100"/>
                        <a:t>Runtime - 0.20</a:t>
                      </a:r>
                      <a:endParaRPr/>
                    </a:p>
                  </a:txBody>
                  <a:tcPr marT="91425" marB="91425" marR="91425" marL="91425"/>
                </a:tc>
              </a:tr>
              <a:tr h="381000">
                <a:tc>
                  <a:txBody>
                    <a:bodyPr/>
                    <a:lstStyle/>
                    <a:p>
                      <a:pPr indent="0" lvl="0" marL="0" rtl="0" algn="l">
                        <a:spcBef>
                          <a:spcPts val="0"/>
                        </a:spcBef>
                        <a:spcAft>
                          <a:spcPts val="0"/>
                        </a:spcAft>
                        <a:buNone/>
                      </a:pPr>
                      <a:r>
                        <a:rPr lang="zh-CN" sz="1100"/>
                        <a:t>LightGB</a:t>
                      </a:r>
                      <a:endParaRPr sz="1100"/>
                    </a:p>
                  </a:txBody>
                  <a:tcPr marT="91425" marB="91425" marR="91425" marL="91425"/>
                </a:tc>
                <a:tc>
                  <a:txBody>
                    <a:bodyPr/>
                    <a:lstStyle/>
                    <a:p>
                      <a:pPr indent="0" lvl="0" marL="0" rtl="0" algn="l">
                        <a:spcBef>
                          <a:spcPts val="0"/>
                        </a:spcBef>
                        <a:spcAft>
                          <a:spcPts val="0"/>
                        </a:spcAft>
                        <a:buNone/>
                      </a:pPr>
                      <a:r>
                        <a:rPr lang="zh-CN" sz="1100"/>
                        <a:t>Train </a:t>
                      </a:r>
                      <a:r>
                        <a:rPr lang="zh-CN" sz="1100"/>
                        <a:t>Accuracy - 95.07%</a:t>
                      </a:r>
                      <a:endParaRPr sz="1100"/>
                    </a:p>
                  </a:txBody>
                  <a:tcPr marT="91425" marB="91425" marR="91425" marL="91425"/>
                </a:tc>
                <a:tc>
                  <a:txBody>
                    <a:bodyPr/>
                    <a:lstStyle/>
                    <a:p>
                      <a:pPr indent="0" lvl="0" marL="0" rtl="0" algn="l">
                        <a:spcBef>
                          <a:spcPts val="0"/>
                        </a:spcBef>
                        <a:spcAft>
                          <a:spcPts val="0"/>
                        </a:spcAft>
                        <a:buNone/>
                      </a:pPr>
                      <a:r>
                        <a:rPr lang="zh-CN" sz="1100"/>
                        <a:t>Predict Accuracy - 94.71%</a:t>
                      </a:r>
                      <a:endParaRPr/>
                    </a:p>
                  </a:txBody>
                  <a:tcPr marT="91425" marB="91425" marR="91425" marL="91425"/>
                </a:tc>
                <a:tc>
                  <a:txBody>
                    <a:bodyPr/>
                    <a:lstStyle/>
                    <a:p>
                      <a:pPr indent="0" lvl="0" marL="0" rtl="0" algn="l">
                        <a:spcBef>
                          <a:spcPts val="0"/>
                        </a:spcBef>
                        <a:spcAft>
                          <a:spcPts val="0"/>
                        </a:spcAft>
                        <a:buNone/>
                      </a:pPr>
                      <a:r>
                        <a:rPr lang="zh-CN" sz="1100"/>
                        <a:t>Runtime - 0.08</a:t>
                      </a:r>
                      <a:endParaRPr/>
                    </a:p>
                  </a:txBody>
                  <a:tcPr marT="91425" marB="91425" marR="91425" marL="91425"/>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pic>
        <p:nvPicPr>
          <p:cNvPr id="301" name="Google Shape;301;p49"/>
          <p:cNvPicPr preferRelativeResize="0"/>
          <p:nvPr/>
        </p:nvPicPr>
        <p:blipFill>
          <a:blip r:embed="rId3">
            <a:alphaModFix/>
          </a:blip>
          <a:stretch>
            <a:fillRect/>
          </a:stretch>
        </p:blipFill>
        <p:spPr>
          <a:xfrm>
            <a:off x="1279650" y="152400"/>
            <a:ext cx="6584702" cy="483869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id="306" name="Google Shape;306;p50"/>
          <p:cNvPicPr preferRelativeResize="0"/>
          <p:nvPr/>
        </p:nvPicPr>
        <p:blipFill>
          <a:blip r:embed="rId3">
            <a:alphaModFix/>
          </a:blip>
          <a:stretch>
            <a:fillRect/>
          </a:stretch>
        </p:blipFill>
        <p:spPr>
          <a:xfrm>
            <a:off x="2034638" y="152400"/>
            <a:ext cx="5074735" cy="483870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51"/>
          <p:cNvSpPr txBox="1"/>
          <p:nvPr>
            <p:ph type="title"/>
          </p:nvPr>
        </p:nvSpPr>
        <p:spPr>
          <a:xfrm>
            <a:off x="1464775" y="819700"/>
            <a:ext cx="8571300" cy="942000"/>
          </a:xfrm>
          <a:prstGeom prst="rect">
            <a:avLst/>
          </a:prstGeom>
        </p:spPr>
        <p:txBody>
          <a:bodyPr anchorCtr="0" anchor="ctr" bIns="91425" lIns="91425" spcFirstLastPara="1" rIns="91425" wrap="square" tIns="91425">
            <a:noAutofit/>
          </a:bodyPr>
          <a:lstStyle/>
          <a:p>
            <a:pPr indent="457200" lvl="0" marL="0" marR="0" rtl="0" algn="l">
              <a:lnSpc>
                <a:spcPct val="150000"/>
              </a:lnSpc>
              <a:spcBef>
                <a:spcPts val="0"/>
              </a:spcBef>
              <a:spcAft>
                <a:spcPts val="0"/>
              </a:spcAft>
              <a:buNone/>
            </a:pPr>
            <a:r>
              <a:rPr lang="zh-CN" sz="5600">
                <a:latin typeface="Arial"/>
                <a:ea typeface="Arial"/>
                <a:cs typeface="Arial"/>
                <a:sym typeface="Arial"/>
              </a:rPr>
              <a:t>4. </a:t>
            </a:r>
            <a:r>
              <a:rPr lang="zh-CN" sz="5600">
                <a:latin typeface="Arial"/>
                <a:ea typeface="Arial"/>
                <a:cs typeface="Arial"/>
                <a:sym typeface="Arial"/>
              </a:rPr>
              <a:t>Conclusion</a:t>
            </a:r>
            <a:endParaRPr sz="5600">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52"/>
          <p:cNvSpPr txBox="1"/>
          <p:nvPr>
            <p:ph idx="1" type="body"/>
          </p:nvPr>
        </p:nvSpPr>
        <p:spPr>
          <a:xfrm>
            <a:off x="149075" y="111825"/>
            <a:ext cx="8683200" cy="4457100"/>
          </a:xfrm>
          <a:prstGeom prst="rect">
            <a:avLst/>
          </a:prstGeom>
        </p:spPr>
        <p:txBody>
          <a:bodyPr anchorCtr="0" anchor="t" bIns="91425" lIns="91425" spcFirstLastPara="1" rIns="91425" wrap="square" tIns="91425">
            <a:normAutofit fontScale="77500" lnSpcReduction="20000"/>
          </a:bodyPr>
          <a:lstStyle/>
          <a:p>
            <a:pPr indent="-317182" lvl="0" marL="457200" rtl="0" algn="l">
              <a:spcBef>
                <a:spcPts val="0"/>
              </a:spcBef>
              <a:spcAft>
                <a:spcPts val="0"/>
              </a:spcAft>
              <a:buSzPct val="100000"/>
              <a:buChar char="●"/>
            </a:pPr>
            <a:r>
              <a:rPr b="1" lang="zh-CN"/>
              <a:t>Data Overview</a:t>
            </a:r>
            <a:endParaRPr b="1"/>
          </a:p>
          <a:p>
            <a:pPr indent="0" lvl="0" marL="457200" rtl="0" algn="l">
              <a:spcBef>
                <a:spcPts val="1200"/>
              </a:spcBef>
              <a:spcAft>
                <a:spcPts val="0"/>
              </a:spcAft>
              <a:buNone/>
            </a:pPr>
            <a:r>
              <a:rPr lang="zh-CN"/>
              <a:t>Our dataset contains multiple columns such as person_age, person_income, person_home_ownership, person_emp_length, and others.</a:t>
            </a:r>
            <a:endParaRPr/>
          </a:p>
          <a:p>
            <a:pPr indent="-317182" lvl="0" marL="457200" rtl="0" algn="l">
              <a:spcBef>
                <a:spcPts val="1200"/>
              </a:spcBef>
              <a:spcAft>
                <a:spcPts val="0"/>
              </a:spcAft>
              <a:buSzPct val="100000"/>
              <a:buChar char="●"/>
            </a:pPr>
            <a:r>
              <a:rPr b="1" lang="zh-CN"/>
              <a:t>Data Cleaning</a:t>
            </a:r>
            <a:endParaRPr b="1"/>
          </a:p>
          <a:p>
            <a:pPr indent="0" lvl="0" marL="457200" rtl="0" algn="l">
              <a:spcBef>
                <a:spcPts val="1200"/>
              </a:spcBef>
              <a:spcAft>
                <a:spcPts val="0"/>
              </a:spcAft>
              <a:buNone/>
            </a:pPr>
            <a:r>
              <a:rPr lang="zh-CN"/>
              <a:t>I</a:t>
            </a:r>
            <a:r>
              <a:rPr lang="zh-CN"/>
              <a:t>dentified i</a:t>
            </a:r>
            <a:r>
              <a:rPr lang="zh-CN"/>
              <a:t>nvalid or anomalous data points, such as cases where employment age was calculated to be less than 14 years or applicant age exceeded 100 years. These were dropped to ensure consistency.</a:t>
            </a:r>
            <a:endParaRPr/>
          </a:p>
          <a:p>
            <a:pPr indent="-317182" lvl="0" marL="457200" rtl="0" algn="l">
              <a:spcBef>
                <a:spcPts val="1200"/>
              </a:spcBef>
              <a:spcAft>
                <a:spcPts val="0"/>
              </a:spcAft>
              <a:buSzPct val="100000"/>
              <a:buChar char="●"/>
            </a:pPr>
            <a:r>
              <a:rPr b="1" lang="zh-CN"/>
              <a:t>Outlier Analysis</a:t>
            </a:r>
            <a:endParaRPr b="1"/>
          </a:p>
          <a:p>
            <a:pPr indent="0" lvl="0" marL="457200" rtl="0" algn="l">
              <a:spcBef>
                <a:spcPts val="1200"/>
              </a:spcBef>
              <a:spcAft>
                <a:spcPts val="0"/>
              </a:spcAft>
              <a:buNone/>
            </a:pPr>
            <a:r>
              <a:rPr lang="zh-CN"/>
              <a:t>Boxplots were created for numeric variables to identify outliers visually </a:t>
            </a:r>
            <a:r>
              <a:rPr lang="zh-CN"/>
              <a:t>(e.g., person_age, person_income, etc.)</a:t>
            </a:r>
            <a:r>
              <a:rPr lang="zh-CN"/>
              <a:t>.</a:t>
            </a:r>
            <a:endParaRPr/>
          </a:p>
          <a:p>
            <a:pPr indent="0" lvl="0" marL="457200" rtl="0" algn="l">
              <a:spcBef>
                <a:spcPts val="1200"/>
              </a:spcBef>
              <a:spcAft>
                <a:spcPts val="0"/>
              </a:spcAft>
              <a:buNone/>
            </a:pPr>
            <a:r>
              <a:rPr lang="zh-CN"/>
              <a:t>Outliers were either analyzed or dropped as appropriate.</a:t>
            </a:r>
            <a:endParaRPr/>
          </a:p>
          <a:p>
            <a:pPr indent="-317182" lvl="0" marL="457200" rtl="0" algn="l">
              <a:spcBef>
                <a:spcPts val="1200"/>
              </a:spcBef>
              <a:spcAft>
                <a:spcPts val="0"/>
              </a:spcAft>
              <a:buSzPct val="100000"/>
              <a:buChar char="●"/>
            </a:pPr>
            <a:r>
              <a:rPr b="1" lang="zh-CN"/>
              <a:t>Correlation Analysis</a:t>
            </a:r>
            <a:endParaRPr b="1"/>
          </a:p>
          <a:p>
            <a:pPr indent="0" lvl="0" marL="457200" rtl="0" algn="l">
              <a:spcBef>
                <a:spcPts val="1200"/>
              </a:spcBef>
              <a:spcAft>
                <a:spcPts val="1200"/>
              </a:spcAft>
              <a:buNone/>
            </a:pPr>
            <a:r>
              <a:rPr lang="zh-CN"/>
              <a:t> We </a:t>
            </a:r>
            <a:r>
              <a:rPr lang="zh-CN"/>
              <a:t>generated </a:t>
            </a:r>
            <a:r>
              <a:rPr lang="zh-CN"/>
              <a:t>a heatmap to show correlations between variables. For example, a high correlation between loan_grade and loan_int_rate, we removed the latter column to avoid multicollinearity.</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3"/>
          <p:cNvSpPr txBox="1"/>
          <p:nvPr>
            <p:ph idx="1" type="body"/>
          </p:nvPr>
        </p:nvSpPr>
        <p:spPr>
          <a:xfrm>
            <a:off x="311700" y="1266325"/>
            <a:ext cx="8520600" cy="3302700"/>
          </a:xfrm>
          <a:prstGeom prst="rect">
            <a:avLst/>
          </a:prstGeom>
        </p:spPr>
        <p:txBody>
          <a:bodyPr anchorCtr="0" anchor="t" bIns="91425" lIns="91425" spcFirstLastPara="1" rIns="91425" wrap="square" tIns="91425">
            <a:normAutofit fontScale="70000" lnSpcReduction="20000"/>
          </a:bodyPr>
          <a:lstStyle/>
          <a:p>
            <a:pPr indent="-308610" lvl="0" marL="457200" rtl="0" algn="l">
              <a:spcBef>
                <a:spcPts val="0"/>
              </a:spcBef>
              <a:spcAft>
                <a:spcPts val="0"/>
              </a:spcAft>
              <a:buSzPct val="100000"/>
              <a:buChar char="●"/>
            </a:pPr>
            <a:r>
              <a:rPr b="1" lang="zh-CN"/>
              <a:t>Visualization</a:t>
            </a:r>
            <a:endParaRPr b="1"/>
          </a:p>
          <a:p>
            <a:pPr indent="0" lvl="0" marL="457200" rtl="0" algn="l">
              <a:spcBef>
                <a:spcPts val="1200"/>
              </a:spcBef>
              <a:spcAft>
                <a:spcPts val="0"/>
              </a:spcAft>
              <a:buNone/>
            </a:pPr>
            <a:r>
              <a:rPr lang="zh-CN"/>
              <a:t>We draw histograms for each numeric variable to understand their distribution, highlighting trends such as income and age distribution.</a:t>
            </a:r>
            <a:endParaRPr/>
          </a:p>
          <a:p>
            <a:pPr indent="-308610" lvl="0" marL="457200" rtl="0" algn="l">
              <a:spcBef>
                <a:spcPts val="1200"/>
              </a:spcBef>
              <a:spcAft>
                <a:spcPts val="0"/>
              </a:spcAft>
              <a:buSzPct val="100000"/>
              <a:buChar char="●"/>
            </a:pPr>
            <a:r>
              <a:rPr b="1" lang="zh-CN"/>
              <a:t>Model Comparison</a:t>
            </a:r>
            <a:endParaRPr b="1"/>
          </a:p>
          <a:p>
            <a:pPr indent="0" lvl="0" marL="457200" rtl="0" algn="l">
              <a:spcBef>
                <a:spcPts val="1200"/>
              </a:spcBef>
              <a:spcAft>
                <a:spcPts val="0"/>
              </a:spcAft>
              <a:buNone/>
            </a:pPr>
            <a:r>
              <a:rPr lang="zh-CN"/>
              <a:t>Several machine learning models, such as Logistic Regression, Decision Tree, Random Forest, Gradient Boosting Decision Trees (GBDT), XGBoost, and LightGBM, were compared.</a:t>
            </a:r>
            <a:endParaRPr/>
          </a:p>
          <a:p>
            <a:pPr indent="0" lvl="0" marL="457200" rtl="0" algn="l">
              <a:spcBef>
                <a:spcPts val="1200"/>
              </a:spcBef>
              <a:spcAft>
                <a:spcPts val="0"/>
              </a:spcAft>
              <a:buNone/>
            </a:pPr>
            <a:r>
              <a:rPr lang="zh-CN"/>
              <a:t>Metrics like runtime, training accuracy, and prediction accuracy were evaluated, visualized in bar plots.</a:t>
            </a:r>
            <a:endParaRPr/>
          </a:p>
          <a:p>
            <a:pPr indent="0" lvl="0" marL="457200" rtl="0" algn="l">
              <a:spcBef>
                <a:spcPts val="1200"/>
              </a:spcBef>
              <a:spcAft>
                <a:spcPts val="0"/>
              </a:spcAft>
              <a:buNone/>
            </a:pPr>
            <a:r>
              <a:rPr lang="zh-CN"/>
              <a:t>XGBoost and GBDT appeared to achieve high prediction accuracy, while LightGBM had a good balance of runtime and accuracy.</a:t>
            </a:r>
            <a:endParaRPr/>
          </a:p>
          <a:p>
            <a:pPr indent="0" lvl="0" marL="45720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Limitation</a:t>
            </a:r>
            <a:endParaRPr/>
          </a:p>
        </p:txBody>
      </p:sp>
      <p:sp>
        <p:nvSpPr>
          <p:cNvPr id="327" name="Google Shape;327;p5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zh-CN"/>
              <a:t>We need</a:t>
            </a:r>
            <a:r>
              <a:rPr lang="zh-CN"/>
              <a:t> discussion of whether to transform skewed variables (e.g., income or loan amount) or apply scaling to numeric features for better model performance.</a:t>
            </a:r>
            <a:endParaRPr/>
          </a:p>
          <a:p>
            <a:pPr indent="-342900" lvl="0" marL="457200" rtl="0" algn="l">
              <a:spcBef>
                <a:spcPts val="0"/>
              </a:spcBef>
              <a:spcAft>
                <a:spcPts val="0"/>
              </a:spcAft>
              <a:buSzPts val="1800"/>
              <a:buChar char="●"/>
            </a:pPr>
            <a:r>
              <a:rPr lang="zh-CN"/>
              <a:t>Ethical issues such as fairness in loan approval were not discussed.</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Future Work</a:t>
            </a:r>
            <a:endParaRPr/>
          </a:p>
        </p:txBody>
      </p:sp>
      <p:sp>
        <p:nvSpPr>
          <p:cNvPr id="333" name="Google Shape;333;p5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fontScale="62500" lnSpcReduction="10000"/>
          </a:bodyPr>
          <a:lstStyle/>
          <a:p>
            <a:pPr indent="-300037" lvl="0" marL="457200" rtl="0" algn="l">
              <a:spcBef>
                <a:spcPts val="0"/>
              </a:spcBef>
              <a:spcAft>
                <a:spcPts val="0"/>
              </a:spcAft>
              <a:buSzPct val="100000"/>
              <a:buChar char="●"/>
            </a:pPr>
            <a:r>
              <a:rPr lang="zh-CN"/>
              <a:t>Advanced Data Exploration and Preprocessing</a:t>
            </a:r>
            <a:endParaRPr/>
          </a:p>
          <a:p>
            <a:pPr indent="0" lvl="0" marL="457200" rtl="0" algn="l">
              <a:spcBef>
                <a:spcPts val="1200"/>
              </a:spcBef>
              <a:spcAft>
                <a:spcPts val="0"/>
              </a:spcAft>
              <a:buNone/>
            </a:pPr>
            <a:r>
              <a:rPr lang="zh-CN"/>
              <a:t>Dive deeper into relationships between variables and address issues like outliers, missing data, and skewness systematically. Utilize appropriate encoding and scaling techniques for better model performance.</a:t>
            </a:r>
            <a:endParaRPr/>
          </a:p>
          <a:p>
            <a:pPr indent="-300037" lvl="0" marL="457200" rtl="0" algn="l">
              <a:spcBef>
                <a:spcPts val="1200"/>
              </a:spcBef>
              <a:spcAft>
                <a:spcPts val="0"/>
              </a:spcAft>
              <a:buSzPct val="100000"/>
              <a:buChar char="●"/>
            </a:pPr>
            <a:r>
              <a:rPr lang="zh-CN"/>
              <a:t>Focus on Interpretability and Ethical Considerations</a:t>
            </a:r>
            <a:endParaRPr/>
          </a:p>
          <a:p>
            <a:pPr indent="0" lvl="0" marL="457200" rtl="0" algn="l">
              <a:spcBef>
                <a:spcPts val="1200"/>
              </a:spcBef>
              <a:spcAft>
                <a:spcPts val="0"/>
              </a:spcAft>
              <a:buNone/>
            </a:pPr>
            <a:r>
              <a:rPr lang="zh-CN"/>
              <a:t>Implement tools to explain our model's predictions and ensure fairness and transparency in decision-making, especially for sensitive domains like finance or healthcare.</a:t>
            </a:r>
            <a:endParaRPr/>
          </a:p>
          <a:p>
            <a:pPr indent="-300037" lvl="0" marL="457200" rtl="0" algn="l">
              <a:spcBef>
                <a:spcPts val="1200"/>
              </a:spcBef>
              <a:spcAft>
                <a:spcPts val="0"/>
              </a:spcAft>
              <a:buSzPct val="100000"/>
              <a:buChar char="●"/>
            </a:pPr>
            <a:r>
              <a:rPr lang="zh-CN"/>
              <a:t>Deployment and Scalability</a:t>
            </a:r>
            <a:endParaRPr/>
          </a:p>
          <a:p>
            <a:pPr indent="0" lvl="0" marL="457200" rtl="0" algn="l">
              <a:spcBef>
                <a:spcPts val="1200"/>
              </a:spcBef>
              <a:spcAft>
                <a:spcPts val="0"/>
              </a:spcAft>
              <a:buNone/>
            </a:pPr>
            <a:r>
              <a:rPr lang="zh-CN"/>
              <a:t>Prepare models for real-world application by automating pipelines, enabling scalability, and setting up monitoring systems to detect and address model drift.</a:t>
            </a:r>
            <a:endParaRPr/>
          </a:p>
          <a:p>
            <a:pPr indent="0" lvl="0" marL="45720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6"/>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zh-CN"/>
              <a:t>¿ Question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7"/>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zh-CN"/>
              <a:t>♡ 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